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and welcome to our presentation on consumerism and fast fashion. We are [Name] and [Name]. We will look at the hidden cost behind the cheap clothes many of us buy, based on two texts: the Earth.org article 'Fast Fashion: The Danger of Sweatshops' and the chapter 'The Greening of Throwaway Stuff' from the textbook BusinessLike.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plan. First we define three key terms. Then we analyse the Earth.org article using the rhetorical pentagram. After that we look at its modes of persuasion and rhetorical devices, and its message and intention. Finally we discuss the pros and cons of fast fashion, how much responsibility we as consumers have, and what we can do about it. Our two texts are the Earth.org article and 'The Greening of Throwaway Stuff' from BusinessLike.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terms first. Consumerism is a social and economic order that encourages people to keep buying more and more goods – a society where consumption equals happiness and status. Materialism is the individual mindset behind it: the belief that owning things and money matter more than, say, relationships or experiences. Fast fashion is the concrete product of both: cheap, mass-produced clothing that copies trends at high speed and is designed to be thrown away quickly. So there is a chain: consumerism is the society, materialism is the mindset, and fast fashion is the product. Our second text, 'The Greening of Throwaway Stuff', calls exactly this our 'throwaway culture'.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analyse the article we use the rhetorical pentagram – five connected points. First, the SENDER is Earth.org, an environmental, non-profit organisation, not a single famous author. That gives it an institutional, 'expert' ethos – but it is mission-driven, so it is not neutral. Second, the RECEIVER is environmentally conscious, educated Western consumers – the people who actually buy fast fashion – addressed as both rational and moral beings. Third, the TOPIC is the human and environmental cost of fast-fashion sweatshops: poverty wages, child labour, the Rana Plaza collapse in 2013 where over a thousand workers died, and huge textile waste. Fourth, the LANGUAGE is formal but accessible, mixing hard facts and figures with emotive, loaded words like 'cruel' and 'inhumane'. Fifth, the CIRCUMSTANCES: it is written in the middle of the climate debate, during the boom of ultra-fast fashion like Shein, and published online so it is free and easily shared. All five points reinforce each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rhetoric. The article uses all three appeals. ETHOS comes from Earth.org's authority as an environmental organisation and its sober, well-sourced tone. LOGOS comes from statistics and cause-and-effect – for example that 60 percent of workers in surveyed Indian mills were under 18, the more than a thousand deaths at Rana Plaza, and that wages cover only a fifth to a half of what a family needs. PATHOS comes from emotive language and the focus on women and children in cruel conditions. Beyond the appeals, it uses loaded language that creates guilt, vivid almost-hyperbolic imagery like 'a truckload burned every second', a clear contrast between our cheap clothes and the high human cost, and constant evidence to back the emotion 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the message and intention? The message is that the low price of fast fashion is really paid by exploited workers and a damaged planet – the true cost is hidden. The intention is twofold: to inform and to persuade – essentially a call to action to rethink how we consume. Does the language between sender and receiver match? Largely, yes: an environmental organisation writing for informed, value-driven readers uses exactly this formal-but-emotive register, mixing data with feeling. The only small mismatch is that the very emotive words could feel one-sided to a sceptic – but the likely audience already cares, so it fits well.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discuss fast fashion. It is not only negative. On the PRO side, it is affordable and accessible, so people on low incomes can follow trends; it creates jobs and income in developing countries; and it is fast and varied, driving a lot of economic activity. But the CONS are serious: labour exploitation – poverty wages, child labour, unsafe factories; environmental harm – water pollution, textile waste, CO2 and microplastics; a throwaway culture of overconsumption; and greenwashing, where brands look sustainable without really changing. So the cheap price hides a very high cost.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much responsibility does the consumer have? It is shared. We create the demand that drives the system – but big companies and governments hold far more power and information, and it is a question of fairness, because not everyone can afford ethical alternatives. Still, our choices matter: we vote with our wallets, and when enough people change, companies have to follow. What can we do? Buy less but better, thinking about cost-per-wear; buy second-hand, swap and repair; support ethical brands and demand transparency; and recycle and donate. All of this is the idea of 'slow fashion' – the opposite of the fast, throwaway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fast fashion is a clear product of consumerism and materialism. In its article, Earth.org uses a strong mix of logos and pathos, on a base of solid institutional ethos, to expose the hidden human and environmental cost of cheap clothing. Responsibility is shared between consumers, companies and governments – but we are not powerless, and small changes made by many people really do add up. Our sources are the Earth.org article and 'The Greening of Throwaway Stuff'. Thank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We are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AF1FA"/>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1D4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554480"/>
            <a:ext cx="10058400" cy="457200"/>
          </a:xfrm>
          <a:prstGeom prst="rect">
            <a:avLst/>
          </a:prstGeom>
          <a:noFill/>
        </p:spPr>
        <p:txBody>
          <a:bodyPr wrap="square" anchor="t">
            <a:spAutoFit/>
          </a:bodyPr>
          <a:lstStyle/>
          <a:p>
            <a:pPr algn="l">
              <a:lnSpc>
                <a:spcPct val="110000"/>
              </a:lnSpc>
              <a:spcAft>
                <a:spcPts val="800"/>
              </a:spcAft>
            </a:pPr>
            <a:r>
              <a:rPr sz="1600" b="1">
                <a:solidFill>
                  <a:srgbClr val="2F6FB0"/>
                </a:solidFill>
                <a:latin typeface="Calibri"/>
              </a:rPr>
              <a:t>GROUP PRESENTATION</a:t>
            </a:r>
          </a:p>
        </p:txBody>
      </p:sp>
      <p:sp>
        <p:nvSpPr>
          <p:cNvPr id="4" name="TextBox 3"/>
          <p:cNvSpPr txBox="1"/>
          <p:nvPr/>
        </p:nvSpPr>
        <p:spPr>
          <a:xfrm>
            <a:off x="914400" y="2103120"/>
            <a:ext cx="10332720" cy="1645920"/>
          </a:xfrm>
          <a:prstGeom prst="rect">
            <a:avLst/>
          </a:prstGeom>
          <a:noFill/>
        </p:spPr>
        <p:txBody>
          <a:bodyPr wrap="square" anchor="t">
            <a:spAutoFit/>
          </a:bodyPr>
          <a:lstStyle/>
          <a:p>
            <a:pPr algn="l">
              <a:lnSpc>
                <a:spcPct val="110000"/>
              </a:lnSpc>
              <a:spcAft>
                <a:spcPts val="800"/>
              </a:spcAft>
            </a:pPr>
            <a:r>
              <a:rPr sz="5000" b="1">
                <a:solidFill>
                  <a:srgbClr val="1D446E"/>
                </a:solidFill>
                <a:latin typeface="Georgia"/>
              </a:rPr>
              <a:t>Consumerism &amp; Fast Fashion</a:t>
            </a:r>
          </a:p>
        </p:txBody>
      </p:sp>
      <p:sp>
        <p:nvSpPr>
          <p:cNvPr id="5" name="Rectangle 4"/>
          <p:cNvSpPr/>
          <p:nvPr/>
        </p:nvSpPr>
        <p:spPr>
          <a:xfrm>
            <a:off x="960120" y="3611880"/>
            <a:ext cx="2194560" cy="54864"/>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794760"/>
            <a:ext cx="10058400" cy="640080"/>
          </a:xfrm>
          <a:prstGeom prst="rect">
            <a:avLst/>
          </a:prstGeom>
          <a:noFill/>
        </p:spPr>
        <p:txBody>
          <a:bodyPr wrap="square" anchor="t">
            <a:spAutoFit/>
          </a:bodyPr>
          <a:lstStyle/>
          <a:p>
            <a:pPr algn="l">
              <a:lnSpc>
                <a:spcPct val="110000"/>
              </a:lnSpc>
              <a:spcAft>
                <a:spcPts val="800"/>
              </a:spcAft>
            </a:pPr>
            <a:r>
              <a:rPr sz="2400" b="0">
                <a:solidFill>
                  <a:srgbClr val="444C55"/>
                </a:solidFill>
                <a:latin typeface="Georgia"/>
              </a:rPr>
              <a:t>The hidden cost of cheap clothes</a:t>
            </a:r>
          </a:p>
        </p:txBody>
      </p:sp>
      <p:sp>
        <p:nvSpPr>
          <p:cNvPr id="7" name="TextBox 6"/>
          <p:cNvSpPr txBox="1"/>
          <p:nvPr/>
        </p:nvSpPr>
        <p:spPr>
          <a:xfrm>
            <a:off x="914400" y="5029200"/>
            <a:ext cx="10058400" cy="1463040"/>
          </a:xfrm>
          <a:prstGeom prst="rect">
            <a:avLst/>
          </a:prstGeom>
          <a:noFill/>
        </p:spPr>
        <p:txBody>
          <a:bodyPr wrap="square" anchor="t">
            <a:spAutoFit/>
          </a:bodyPr>
          <a:lstStyle/>
          <a:p>
            <a:pPr algn="l">
              <a:lnSpc>
                <a:spcPct val="120000"/>
              </a:lnSpc>
              <a:spcAft>
                <a:spcPts val="400"/>
              </a:spcAft>
            </a:pPr>
            <a:r>
              <a:rPr sz="1500" b="0">
                <a:solidFill>
                  <a:srgbClr val="7C848C"/>
                </a:solidFill>
                <a:latin typeface="Calibri"/>
              </a:rPr>
              <a:t>English – Group Presentation (makkerskab)</a:t>
            </a:r>
          </a:p>
          <a:p>
            <a:pPr algn="l">
              <a:lnSpc>
                <a:spcPct val="120000"/>
              </a:lnSpc>
              <a:spcAft>
                <a:spcPts val="400"/>
              </a:spcAft>
            </a:pPr>
            <a:r>
              <a:rPr sz="1500" b="0">
                <a:solidFill>
                  <a:srgbClr val="7C848C"/>
                </a:solidFill>
                <a:latin typeface="Calibri"/>
              </a:rPr>
              <a:t>By: [Your name] &amp; [Your name]</a:t>
            </a:r>
          </a:p>
          <a:p>
            <a:pPr algn="l">
              <a:lnSpc>
                <a:spcPct val="120000"/>
              </a:lnSpc>
              <a:spcAft>
                <a:spcPts val="400"/>
              </a:spcAft>
            </a:pPr>
            <a:r>
              <a:rPr sz="1500" b="0">
                <a:solidFill>
                  <a:srgbClr val="7C848C"/>
                </a:solidFill>
                <a:latin typeface="Calibri"/>
              </a:rPr>
              <a:t>Deadline: 24/05-2026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D4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789920" cy="365760"/>
          </a:xfrm>
          <a:prstGeom prst="rect">
            <a:avLst/>
          </a:prstGeom>
          <a:noFill/>
        </p:spPr>
        <p:txBody>
          <a:bodyPr wrap="square" anchor="t">
            <a:spAutoFit/>
          </a:bodyPr>
          <a:lstStyle/>
          <a:p>
            <a:pPr algn="l">
              <a:lnSpc>
                <a:spcPct val="110000"/>
              </a:lnSpc>
              <a:spcAft>
                <a:spcPts val="800"/>
              </a:spcAft>
            </a:pPr>
            <a:r>
              <a:rPr sz="1300" b="1">
                <a:solidFill>
                  <a:srgbClr val="2F6FB0"/>
                </a:solidFill>
                <a:latin typeface="Calibri"/>
              </a:rPr>
              <a:t>OVERVIEW</a:t>
            </a:r>
          </a:p>
        </p:txBody>
      </p:sp>
      <p:sp>
        <p:nvSpPr>
          <p:cNvPr id="4" name="TextBox 3"/>
          <p:cNvSpPr txBox="1"/>
          <p:nvPr/>
        </p:nvSpPr>
        <p:spPr>
          <a:xfrm>
            <a:off x="640080" y="886968"/>
            <a:ext cx="10972800" cy="914400"/>
          </a:xfrm>
          <a:prstGeom prst="rect">
            <a:avLst/>
          </a:prstGeom>
          <a:noFill/>
        </p:spPr>
        <p:txBody>
          <a:bodyPr wrap="square" anchor="t">
            <a:spAutoFit/>
          </a:bodyPr>
          <a:lstStyle/>
          <a:p>
            <a:pPr algn="l">
              <a:lnSpc>
                <a:spcPct val="110000"/>
              </a:lnSpc>
              <a:spcAft>
                <a:spcPts val="800"/>
              </a:spcAft>
            </a:pPr>
            <a:r>
              <a:rPr sz="3000" b="1">
                <a:solidFill>
                  <a:srgbClr val="1D446E"/>
                </a:solidFill>
                <a:latin typeface="Georgia"/>
              </a:rPr>
              <a:t>Agenda</a:t>
            </a:r>
          </a:p>
        </p:txBody>
      </p:sp>
      <p:sp>
        <p:nvSpPr>
          <p:cNvPr id="5" name="Rectangle 4"/>
          <p:cNvSpPr/>
          <p:nvPr/>
        </p:nvSpPr>
        <p:spPr>
          <a:xfrm>
            <a:off x="658368" y="1728216"/>
            <a:ext cx="1554480" cy="41148"/>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46520"/>
            <a:ext cx="7315200" cy="320040"/>
          </a:xfrm>
          <a:prstGeom prst="rect">
            <a:avLst/>
          </a:prstGeom>
          <a:noFill/>
        </p:spPr>
        <p:txBody>
          <a:bodyPr wrap="square" anchor="t">
            <a:spAutoFit/>
          </a:bodyPr>
          <a:lstStyle/>
          <a:p>
            <a:pPr algn="l">
              <a:lnSpc>
                <a:spcPct val="110000"/>
              </a:lnSpc>
              <a:spcAft>
                <a:spcPts val="800"/>
              </a:spcAft>
            </a:pPr>
            <a:r>
              <a:rPr sz="1000" b="0">
                <a:solidFill>
                  <a:srgbClr val="7C848C"/>
                </a:solidFill>
                <a:latin typeface="Calibri"/>
              </a:rPr>
              <a:t>Consumerism &amp; Fast Fashion</a:t>
            </a:r>
          </a:p>
        </p:txBody>
      </p:sp>
      <p:sp>
        <p:nvSpPr>
          <p:cNvPr id="7" name="TextBox 6"/>
          <p:cNvSpPr txBox="1"/>
          <p:nvPr/>
        </p:nvSpPr>
        <p:spPr>
          <a:xfrm>
            <a:off x="10972800" y="6446520"/>
            <a:ext cx="822960" cy="320040"/>
          </a:xfrm>
          <a:prstGeom prst="rect">
            <a:avLst/>
          </a:prstGeom>
          <a:noFill/>
        </p:spPr>
        <p:txBody>
          <a:bodyPr wrap="square" anchor="t">
            <a:spAutoFit/>
          </a:bodyPr>
          <a:lstStyle/>
          <a:p>
            <a:pPr algn="r">
              <a:lnSpc>
                <a:spcPct val="110000"/>
              </a:lnSpc>
              <a:spcAft>
                <a:spcPts val="800"/>
              </a:spcAft>
            </a:pPr>
            <a:r>
              <a:rPr sz="1000" b="0">
                <a:solidFill>
                  <a:srgbClr val="7C848C"/>
                </a:solidFill>
                <a:latin typeface="Calibri"/>
              </a:rPr>
              <a:t>2</a:t>
            </a:r>
          </a:p>
        </p:txBody>
      </p:sp>
      <p:sp>
        <p:nvSpPr>
          <p:cNvPr id="8" name="TextBox 7"/>
          <p:cNvSpPr txBox="1"/>
          <p:nvPr/>
        </p:nvSpPr>
        <p:spPr>
          <a:xfrm>
            <a:off x="868680" y="2029967"/>
            <a:ext cx="10607040" cy="4023360"/>
          </a:xfrm>
          <a:prstGeom prst="rect">
            <a:avLst/>
          </a:prstGeom>
          <a:noFill/>
        </p:spPr>
        <p:txBody>
          <a:bodyPr wrap="square" anchor="t">
            <a:spAutoFit/>
          </a:bodyPr>
          <a:lstStyle/>
          <a:p>
            <a:pPr algn="l">
              <a:lnSpc>
                <a:spcPct val="114000"/>
              </a:lnSpc>
              <a:spcAft>
                <a:spcPts val="1200"/>
              </a:spcAft>
            </a:pPr>
            <a:r>
              <a:rPr sz="1600" b="1">
                <a:solidFill>
                  <a:srgbClr val="2F6FB0"/>
                </a:solidFill>
                <a:latin typeface="Calibri"/>
              </a:rPr>
              <a:t>▸  </a:t>
            </a:r>
            <a:r>
              <a:rPr sz="1900" b="0">
                <a:solidFill>
                  <a:srgbClr val="2A2E33"/>
                </a:solidFill>
                <a:latin typeface="Calibri"/>
              </a:rPr>
              <a:t>Key terms: consumerism, materialism &amp; fast fashion</a:t>
            </a:r>
          </a:p>
          <a:p>
            <a:pPr algn="l">
              <a:lnSpc>
                <a:spcPct val="114000"/>
              </a:lnSpc>
              <a:spcAft>
                <a:spcPts val="1200"/>
              </a:spcAft>
            </a:pPr>
            <a:r>
              <a:rPr sz="1600" b="1">
                <a:solidFill>
                  <a:srgbClr val="2F6FB0"/>
                </a:solidFill>
                <a:latin typeface="Calibri"/>
              </a:rPr>
              <a:t>▸  </a:t>
            </a:r>
            <a:r>
              <a:rPr sz="1900" b="0">
                <a:solidFill>
                  <a:srgbClr val="2A2E33"/>
                </a:solidFill>
                <a:latin typeface="Calibri"/>
              </a:rPr>
              <a:t>Rhetorical pentagram analysis of the Earth.org article</a:t>
            </a:r>
          </a:p>
          <a:p>
            <a:pPr algn="l">
              <a:lnSpc>
                <a:spcPct val="114000"/>
              </a:lnSpc>
              <a:spcAft>
                <a:spcPts val="1200"/>
              </a:spcAft>
            </a:pPr>
            <a:r>
              <a:rPr sz="1600" b="1">
                <a:solidFill>
                  <a:srgbClr val="2F6FB0"/>
                </a:solidFill>
                <a:latin typeface="Calibri"/>
              </a:rPr>
              <a:t>▸  </a:t>
            </a:r>
            <a:r>
              <a:rPr sz="1900" b="0">
                <a:solidFill>
                  <a:srgbClr val="2A2E33"/>
                </a:solidFill>
                <a:latin typeface="Calibri"/>
              </a:rPr>
              <a:t>Modes of persuasion, rhetorical devices, message &amp; intention</a:t>
            </a:r>
          </a:p>
          <a:p>
            <a:pPr algn="l">
              <a:lnSpc>
                <a:spcPct val="114000"/>
              </a:lnSpc>
              <a:spcAft>
                <a:spcPts val="1200"/>
              </a:spcAft>
            </a:pPr>
            <a:r>
              <a:rPr sz="1600" b="1">
                <a:solidFill>
                  <a:srgbClr val="2F6FB0"/>
                </a:solidFill>
                <a:latin typeface="Calibri"/>
              </a:rPr>
              <a:t>▸  </a:t>
            </a:r>
            <a:r>
              <a:rPr sz="1900" b="0">
                <a:solidFill>
                  <a:srgbClr val="2A2E33"/>
                </a:solidFill>
                <a:latin typeface="Calibri"/>
              </a:rPr>
              <a:t>Discussion: pros &amp; cons, responsibility &amp; what we can 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D4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789920" cy="365760"/>
          </a:xfrm>
          <a:prstGeom prst="rect">
            <a:avLst/>
          </a:prstGeom>
          <a:noFill/>
        </p:spPr>
        <p:txBody>
          <a:bodyPr wrap="square" anchor="t">
            <a:spAutoFit/>
          </a:bodyPr>
          <a:lstStyle/>
          <a:p>
            <a:pPr algn="l">
              <a:lnSpc>
                <a:spcPct val="110000"/>
              </a:lnSpc>
              <a:spcAft>
                <a:spcPts val="800"/>
              </a:spcAft>
            </a:pPr>
            <a:r>
              <a:rPr sz="1300" b="1">
                <a:solidFill>
                  <a:srgbClr val="2F6FB0"/>
                </a:solidFill>
                <a:latin typeface="Calibri"/>
              </a:rPr>
              <a:t>DEFINITIONS</a:t>
            </a:r>
          </a:p>
        </p:txBody>
      </p:sp>
      <p:sp>
        <p:nvSpPr>
          <p:cNvPr id="4" name="TextBox 3"/>
          <p:cNvSpPr txBox="1"/>
          <p:nvPr/>
        </p:nvSpPr>
        <p:spPr>
          <a:xfrm>
            <a:off x="640080" y="886968"/>
            <a:ext cx="10972800" cy="914400"/>
          </a:xfrm>
          <a:prstGeom prst="rect">
            <a:avLst/>
          </a:prstGeom>
          <a:noFill/>
        </p:spPr>
        <p:txBody>
          <a:bodyPr wrap="square" anchor="t">
            <a:spAutoFit/>
          </a:bodyPr>
          <a:lstStyle/>
          <a:p>
            <a:pPr algn="l">
              <a:lnSpc>
                <a:spcPct val="110000"/>
              </a:lnSpc>
              <a:spcAft>
                <a:spcPts val="800"/>
              </a:spcAft>
            </a:pPr>
            <a:r>
              <a:rPr sz="3000" b="1">
                <a:solidFill>
                  <a:srgbClr val="1D446E"/>
                </a:solidFill>
                <a:latin typeface="Georgia"/>
              </a:rPr>
              <a:t>Key terms</a:t>
            </a:r>
          </a:p>
        </p:txBody>
      </p:sp>
      <p:sp>
        <p:nvSpPr>
          <p:cNvPr id="5" name="Rectangle 4"/>
          <p:cNvSpPr/>
          <p:nvPr/>
        </p:nvSpPr>
        <p:spPr>
          <a:xfrm>
            <a:off x="658368" y="1728216"/>
            <a:ext cx="1554480" cy="41148"/>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46520"/>
            <a:ext cx="7315200" cy="320040"/>
          </a:xfrm>
          <a:prstGeom prst="rect">
            <a:avLst/>
          </a:prstGeom>
          <a:noFill/>
        </p:spPr>
        <p:txBody>
          <a:bodyPr wrap="square" anchor="t">
            <a:spAutoFit/>
          </a:bodyPr>
          <a:lstStyle/>
          <a:p>
            <a:pPr algn="l">
              <a:lnSpc>
                <a:spcPct val="110000"/>
              </a:lnSpc>
              <a:spcAft>
                <a:spcPts val="800"/>
              </a:spcAft>
            </a:pPr>
            <a:r>
              <a:rPr sz="1000" b="0">
                <a:solidFill>
                  <a:srgbClr val="7C848C"/>
                </a:solidFill>
                <a:latin typeface="Calibri"/>
              </a:rPr>
              <a:t>Consumerism &amp; Fast Fashion</a:t>
            </a:r>
          </a:p>
        </p:txBody>
      </p:sp>
      <p:sp>
        <p:nvSpPr>
          <p:cNvPr id="7" name="TextBox 6"/>
          <p:cNvSpPr txBox="1"/>
          <p:nvPr/>
        </p:nvSpPr>
        <p:spPr>
          <a:xfrm>
            <a:off x="10972800" y="6446520"/>
            <a:ext cx="822960" cy="320040"/>
          </a:xfrm>
          <a:prstGeom prst="rect">
            <a:avLst/>
          </a:prstGeom>
          <a:noFill/>
        </p:spPr>
        <p:txBody>
          <a:bodyPr wrap="square" anchor="t">
            <a:spAutoFit/>
          </a:bodyPr>
          <a:lstStyle/>
          <a:p>
            <a:pPr algn="r">
              <a:lnSpc>
                <a:spcPct val="110000"/>
              </a:lnSpc>
              <a:spcAft>
                <a:spcPts val="800"/>
              </a:spcAft>
            </a:pPr>
            <a:r>
              <a:rPr sz="1000" b="0">
                <a:solidFill>
                  <a:srgbClr val="7C848C"/>
                </a:solidFill>
                <a:latin typeface="Calibri"/>
              </a:rPr>
              <a:t>3</a:t>
            </a:r>
          </a:p>
        </p:txBody>
      </p:sp>
      <p:sp>
        <p:nvSpPr>
          <p:cNvPr id="8" name="TextBox 7"/>
          <p:cNvSpPr txBox="1"/>
          <p:nvPr/>
        </p:nvSpPr>
        <p:spPr>
          <a:xfrm>
            <a:off x="868680" y="2029967"/>
            <a:ext cx="10607040" cy="4023360"/>
          </a:xfrm>
          <a:prstGeom prst="rect">
            <a:avLst/>
          </a:prstGeom>
          <a:noFill/>
        </p:spPr>
        <p:txBody>
          <a:bodyPr wrap="square" anchor="t">
            <a:spAutoFit/>
          </a:bodyPr>
          <a:lstStyle/>
          <a:p>
            <a:pPr algn="l">
              <a:lnSpc>
                <a:spcPct val="114000"/>
              </a:lnSpc>
              <a:spcAft>
                <a:spcPts val="1200"/>
              </a:spcAft>
            </a:pPr>
            <a:r>
              <a:rPr sz="1600" b="1">
                <a:solidFill>
                  <a:srgbClr val="2F6FB0"/>
                </a:solidFill>
                <a:latin typeface="Calibri"/>
              </a:rPr>
              <a:t>▸  </a:t>
            </a:r>
            <a:r>
              <a:rPr sz="1900" b="0">
                <a:solidFill>
                  <a:srgbClr val="2A2E33"/>
                </a:solidFill>
                <a:latin typeface="Calibri"/>
              </a:rPr>
              <a:t>Consumerism – a society that constantly encourages us to buy more</a:t>
            </a:r>
          </a:p>
          <a:p>
            <a:pPr algn="l">
              <a:lnSpc>
                <a:spcPct val="114000"/>
              </a:lnSpc>
              <a:spcAft>
                <a:spcPts val="1200"/>
              </a:spcAft>
            </a:pPr>
            <a:r>
              <a:rPr sz="1600" b="1">
                <a:solidFill>
                  <a:srgbClr val="2F6FB0"/>
                </a:solidFill>
                <a:latin typeface="Calibri"/>
              </a:rPr>
              <a:t>▸  </a:t>
            </a:r>
            <a:r>
              <a:rPr sz="1900" b="0">
                <a:solidFill>
                  <a:srgbClr val="2A2E33"/>
                </a:solidFill>
                <a:latin typeface="Calibri"/>
              </a:rPr>
              <a:t>Materialism – the mindset that owning things &amp; money bring status and happiness</a:t>
            </a:r>
          </a:p>
          <a:p>
            <a:pPr algn="l">
              <a:lnSpc>
                <a:spcPct val="114000"/>
              </a:lnSpc>
              <a:spcAft>
                <a:spcPts val="1200"/>
              </a:spcAft>
            </a:pPr>
            <a:r>
              <a:rPr sz="1600" b="1">
                <a:solidFill>
                  <a:srgbClr val="2F6FB0"/>
                </a:solidFill>
                <a:latin typeface="Calibri"/>
              </a:rPr>
              <a:t>▸  </a:t>
            </a:r>
            <a:r>
              <a:rPr sz="1900" b="0">
                <a:solidFill>
                  <a:srgbClr val="2A2E33"/>
                </a:solidFill>
                <a:latin typeface="Calibri"/>
              </a:rPr>
              <a:t>Fast fashion – cheap, trend-copying clothes made to be thrown away (Shein, H&amp;M, Zara)</a:t>
            </a:r>
          </a:p>
          <a:p>
            <a:pPr algn="l">
              <a:lnSpc>
                <a:spcPct val="114000"/>
              </a:lnSpc>
              <a:spcAft>
                <a:spcPts val="1200"/>
              </a:spcAft>
            </a:pPr>
            <a:r>
              <a:rPr sz="1600" b="1">
                <a:solidFill>
                  <a:srgbClr val="2F6FB0"/>
                </a:solidFill>
                <a:latin typeface="Calibri"/>
              </a:rPr>
              <a:t>▸  </a:t>
            </a:r>
            <a:r>
              <a:rPr sz="1900" b="0">
                <a:solidFill>
                  <a:srgbClr val="2A2E33"/>
                </a:solidFill>
                <a:latin typeface="Calibri"/>
              </a:rPr>
              <a:t>The chain: consumerism (society) → materialism (mindset) → fast fashion (product)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D4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789920" cy="365760"/>
          </a:xfrm>
          <a:prstGeom prst="rect">
            <a:avLst/>
          </a:prstGeom>
          <a:noFill/>
        </p:spPr>
        <p:txBody>
          <a:bodyPr wrap="square" anchor="t">
            <a:spAutoFit/>
          </a:bodyPr>
          <a:lstStyle/>
          <a:p>
            <a:pPr algn="l">
              <a:lnSpc>
                <a:spcPct val="110000"/>
              </a:lnSpc>
              <a:spcAft>
                <a:spcPts val="800"/>
              </a:spcAft>
            </a:pPr>
            <a:r>
              <a:rPr sz="1300" b="1">
                <a:solidFill>
                  <a:srgbClr val="2F6FB0"/>
                </a:solidFill>
                <a:latin typeface="Calibri"/>
              </a:rPr>
              <a:t>RHETORICAL ANALYSIS</a:t>
            </a:r>
          </a:p>
        </p:txBody>
      </p:sp>
      <p:sp>
        <p:nvSpPr>
          <p:cNvPr id="4" name="TextBox 3"/>
          <p:cNvSpPr txBox="1"/>
          <p:nvPr/>
        </p:nvSpPr>
        <p:spPr>
          <a:xfrm>
            <a:off x="640080" y="886968"/>
            <a:ext cx="10972800" cy="914400"/>
          </a:xfrm>
          <a:prstGeom prst="rect">
            <a:avLst/>
          </a:prstGeom>
          <a:noFill/>
        </p:spPr>
        <p:txBody>
          <a:bodyPr wrap="square" anchor="t">
            <a:spAutoFit/>
          </a:bodyPr>
          <a:lstStyle/>
          <a:p>
            <a:pPr algn="l">
              <a:lnSpc>
                <a:spcPct val="110000"/>
              </a:lnSpc>
              <a:spcAft>
                <a:spcPts val="800"/>
              </a:spcAft>
            </a:pPr>
            <a:r>
              <a:rPr sz="3000" b="1">
                <a:solidFill>
                  <a:srgbClr val="1D446E"/>
                </a:solidFill>
                <a:latin typeface="Georgia"/>
              </a:rPr>
              <a:t>The rhetorical pentagram</a:t>
            </a:r>
          </a:p>
        </p:txBody>
      </p:sp>
      <p:sp>
        <p:nvSpPr>
          <p:cNvPr id="5" name="Rectangle 4"/>
          <p:cNvSpPr/>
          <p:nvPr/>
        </p:nvSpPr>
        <p:spPr>
          <a:xfrm>
            <a:off x="658368" y="1728216"/>
            <a:ext cx="1554480" cy="41148"/>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46520"/>
            <a:ext cx="7315200" cy="320040"/>
          </a:xfrm>
          <a:prstGeom prst="rect">
            <a:avLst/>
          </a:prstGeom>
          <a:noFill/>
        </p:spPr>
        <p:txBody>
          <a:bodyPr wrap="square" anchor="t">
            <a:spAutoFit/>
          </a:bodyPr>
          <a:lstStyle/>
          <a:p>
            <a:pPr algn="l">
              <a:lnSpc>
                <a:spcPct val="110000"/>
              </a:lnSpc>
              <a:spcAft>
                <a:spcPts val="800"/>
              </a:spcAft>
            </a:pPr>
            <a:r>
              <a:rPr sz="1000" b="0">
                <a:solidFill>
                  <a:srgbClr val="7C848C"/>
                </a:solidFill>
                <a:latin typeface="Calibri"/>
              </a:rPr>
              <a:t>Consumerism &amp; Fast Fashion</a:t>
            </a:r>
          </a:p>
        </p:txBody>
      </p:sp>
      <p:sp>
        <p:nvSpPr>
          <p:cNvPr id="7" name="TextBox 6"/>
          <p:cNvSpPr txBox="1"/>
          <p:nvPr/>
        </p:nvSpPr>
        <p:spPr>
          <a:xfrm>
            <a:off x="10972800" y="6446520"/>
            <a:ext cx="822960" cy="320040"/>
          </a:xfrm>
          <a:prstGeom prst="rect">
            <a:avLst/>
          </a:prstGeom>
          <a:noFill/>
        </p:spPr>
        <p:txBody>
          <a:bodyPr wrap="square" anchor="t">
            <a:spAutoFit/>
          </a:bodyPr>
          <a:lstStyle/>
          <a:p>
            <a:pPr algn="r">
              <a:lnSpc>
                <a:spcPct val="110000"/>
              </a:lnSpc>
              <a:spcAft>
                <a:spcPts val="800"/>
              </a:spcAft>
            </a:pPr>
            <a:r>
              <a:rPr sz="1000" b="0">
                <a:solidFill>
                  <a:srgbClr val="7C848C"/>
                </a:solidFill>
                <a:latin typeface="Calibri"/>
              </a:rPr>
              <a:t>4</a:t>
            </a:r>
          </a:p>
        </p:txBody>
      </p:sp>
      <p:sp>
        <p:nvSpPr>
          <p:cNvPr id="8" name="TextBox 7"/>
          <p:cNvSpPr txBox="1"/>
          <p:nvPr/>
        </p:nvSpPr>
        <p:spPr>
          <a:xfrm>
            <a:off x="868680" y="2029967"/>
            <a:ext cx="4572000" cy="4023360"/>
          </a:xfrm>
          <a:prstGeom prst="rect">
            <a:avLst/>
          </a:prstGeom>
          <a:noFill/>
        </p:spPr>
        <p:txBody>
          <a:bodyPr wrap="square" anchor="t">
            <a:spAutoFit/>
          </a:bodyPr>
          <a:lstStyle/>
          <a:p>
            <a:pPr algn="l">
              <a:lnSpc>
                <a:spcPct val="112000"/>
              </a:lnSpc>
              <a:spcAft>
                <a:spcPts val="1100"/>
              </a:spcAft>
            </a:pPr>
            <a:r>
              <a:rPr sz="1500" b="0">
                <a:solidFill>
                  <a:srgbClr val="444C55"/>
                </a:solidFill>
                <a:latin typeface="Calibri"/>
              </a:rPr>
              <a:t>A model of the communication situation — five connected points that all influence each other:</a:t>
            </a:r>
          </a:p>
          <a:p>
            <a:pPr algn="l">
              <a:lnSpc>
                <a:spcPct val="112000"/>
              </a:lnSpc>
              <a:spcAft>
                <a:spcPts val="1100"/>
              </a:spcAft>
            </a:pPr>
            <a:r>
              <a:rPr sz="1300" b="1">
                <a:solidFill>
                  <a:srgbClr val="2F6FB0"/>
                </a:solidFill>
                <a:latin typeface="Calibri"/>
              </a:rPr>
              <a:t>▸  </a:t>
            </a:r>
            <a:r>
              <a:rPr sz="1500" b="1">
                <a:solidFill>
                  <a:srgbClr val="1D446E"/>
                </a:solidFill>
                <a:latin typeface="Calibri"/>
              </a:rPr>
              <a:t>Sender: </a:t>
            </a:r>
            <a:r>
              <a:rPr sz="1500" b="0">
                <a:solidFill>
                  <a:srgbClr val="2A2E33"/>
                </a:solidFill>
                <a:latin typeface="Calibri"/>
              </a:rPr>
              <a:t>Earth.org, a mission-driven environmental org → institutional ethos</a:t>
            </a:r>
          </a:p>
          <a:p>
            <a:pPr algn="l">
              <a:lnSpc>
                <a:spcPct val="112000"/>
              </a:lnSpc>
              <a:spcAft>
                <a:spcPts val="1100"/>
              </a:spcAft>
            </a:pPr>
            <a:r>
              <a:rPr sz="1300" b="1">
                <a:solidFill>
                  <a:srgbClr val="2F6FB0"/>
                </a:solidFill>
                <a:latin typeface="Calibri"/>
              </a:rPr>
              <a:t>▸  </a:t>
            </a:r>
            <a:r>
              <a:rPr sz="1500" b="1">
                <a:solidFill>
                  <a:srgbClr val="1D446E"/>
                </a:solidFill>
                <a:latin typeface="Calibri"/>
              </a:rPr>
              <a:t>Receiver: </a:t>
            </a:r>
            <a:r>
              <a:rPr sz="1500" b="0">
                <a:solidFill>
                  <a:srgbClr val="2A2E33"/>
                </a:solidFill>
                <a:latin typeface="Calibri"/>
              </a:rPr>
              <a:t>eco-conscious, educated Western consumers — rational &amp; moral</a:t>
            </a:r>
          </a:p>
          <a:p>
            <a:pPr algn="l">
              <a:lnSpc>
                <a:spcPct val="112000"/>
              </a:lnSpc>
              <a:spcAft>
                <a:spcPts val="1100"/>
              </a:spcAft>
            </a:pPr>
            <a:r>
              <a:rPr sz="1300" b="1">
                <a:solidFill>
                  <a:srgbClr val="2F6FB0"/>
                </a:solidFill>
                <a:latin typeface="Calibri"/>
              </a:rPr>
              <a:t>▸  </a:t>
            </a:r>
            <a:r>
              <a:rPr sz="1500" b="1">
                <a:solidFill>
                  <a:srgbClr val="1D446E"/>
                </a:solidFill>
                <a:latin typeface="Calibri"/>
              </a:rPr>
              <a:t>Topic: </a:t>
            </a:r>
            <a:r>
              <a:rPr sz="1500" b="0">
                <a:solidFill>
                  <a:srgbClr val="2A2E33"/>
                </a:solidFill>
                <a:latin typeface="Calibri"/>
              </a:rPr>
              <a:t>the human &amp; environmental cost of sweatshops</a:t>
            </a:r>
          </a:p>
          <a:p>
            <a:pPr algn="l">
              <a:lnSpc>
                <a:spcPct val="112000"/>
              </a:lnSpc>
              <a:spcAft>
                <a:spcPts val="1100"/>
              </a:spcAft>
            </a:pPr>
            <a:r>
              <a:rPr sz="1300" b="1">
                <a:solidFill>
                  <a:srgbClr val="2F6FB0"/>
                </a:solidFill>
                <a:latin typeface="Calibri"/>
              </a:rPr>
              <a:t>▸  </a:t>
            </a:r>
            <a:r>
              <a:rPr sz="1500" b="1">
                <a:solidFill>
                  <a:srgbClr val="1D446E"/>
                </a:solidFill>
                <a:latin typeface="Calibri"/>
              </a:rPr>
              <a:t>Language: </a:t>
            </a:r>
            <a:r>
              <a:rPr sz="1500" b="0">
                <a:solidFill>
                  <a:srgbClr val="2A2E33"/>
                </a:solidFill>
                <a:latin typeface="Calibri"/>
              </a:rPr>
              <a:t>formal yet emotive — facts + loaded words</a:t>
            </a:r>
          </a:p>
          <a:p>
            <a:pPr algn="l">
              <a:lnSpc>
                <a:spcPct val="112000"/>
              </a:lnSpc>
              <a:spcAft>
                <a:spcPts val="1100"/>
              </a:spcAft>
            </a:pPr>
            <a:r>
              <a:rPr sz="1300" b="1">
                <a:solidFill>
                  <a:srgbClr val="2F6FB0"/>
                </a:solidFill>
                <a:latin typeface="Calibri"/>
              </a:rPr>
              <a:t>▸  </a:t>
            </a:r>
            <a:r>
              <a:rPr sz="1500" b="1">
                <a:solidFill>
                  <a:srgbClr val="1D446E"/>
                </a:solidFill>
                <a:latin typeface="Calibri"/>
              </a:rPr>
              <a:t>Circumstances: </a:t>
            </a:r>
            <a:r>
              <a:rPr sz="1500" b="0">
                <a:solidFill>
                  <a:srgbClr val="2A2E33"/>
                </a:solidFill>
                <a:latin typeface="Calibri"/>
              </a:rPr>
              <a:t>climate debate, ultra-fast fashion, published online</a:t>
            </a:r>
          </a:p>
        </p:txBody>
      </p:sp>
      <p:cxnSp>
        <p:nvCxnSpPr>
          <p:cNvPr id="9" name="Connector 8"/>
          <p:cNvCxnSpPr/>
          <p:nvPr/>
        </p:nvCxnSpPr>
        <p:spPr>
          <a:xfrm>
            <a:off x="8686800" y="2240279"/>
            <a:ext cx="1652327" cy="1200487"/>
          </a:xfrm>
          <a:prstGeom prst="line">
            <a:avLst/>
          </a:prstGeom>
          <a:ln w="15875">
            <a:solidFill>
              <a:srgbClr val="B7CFE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686800" y="2240279"/>
            <a:ext cx="1021194" cy="3142914"/>
          </a:xfrm>
          <a:prstGeom prst="line">
            <a:avLst/>
          </a:prstGeom>
          <a:ln w="15875">
            <a:solidFill>
              <a:srgbClr val="B7CFE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7665605" y="2240279"/>
            <a:ext cx="1021195" cy="3142914"/>
          </a:xfrm>
          <a:prstGeom prst="line">
            <a:avLst/>
          </a:prstGeom>
          <a:ln w="15875">
            <a:solidFill>
              <a:srgbClr val="B7CFE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034472" y="2240279"/>
            <a:ext cx="1652328" cy="1200487"/>
          </a:xfrm>
          <a:prstGeom prst="line">
            <a:avLst/>
          </a:prstGeom>
          <a:ln w="15875">
            <a:solidFill>
              <a:srgbClr val="B7CFE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9707994" y="3440766"/>
            <a:ext cx="631133" cy="1942427"/>
          </a:xfrm>
          <a:prstGeom prst="line">
            <a:avLst/>
          </a:prstGeom>
          <a:ln w="15875">
            <a:solidFill>
              <a:srgbClr val="B7CFE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7665605" y="3440766"/>
            <a:ext cx="2673522" cy="1942427"/>
          </a:xfrm>
          <a:prstGeom prst="line">
            <a:avLst/>
          </a:prstGeom>
          <a:ln w="15875">
            <a:solidFill>
              <a:srgbClr val="B7CFE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7034472" y="3440766"/>
            <a:ext cx="3304655" cy="0"/>
          </a:xfrm>
          <a:prstGeom prst="line">
            <a:avLst/>
          </a:prstGeom>
          <a:ln w="15875">
            <a:solidFill>
              <a:srgbClr val="B7CFE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7665605" y="5383193"/>
            <a:ext cx="2042389" cy="0"/>
          </a:xfrm>
          <a:prstGeom prst="line">
            <a:avLst/>
          </a:prstGeom>
          <a:ln w="15875">
            <a:solidFill>
              <a:srgbClr val="B7CFE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7034472" y="3440766"/>
            <a:ext cx="2673522" cy="1942427"/>
          </a:xfrm>
          <a:prstGeom prst="line">
            <a:avLst/>
          </a:prstGeom>
          <a:ln w="15875">
            <a:solidFill>
              <a:srgbClr val="B7CFE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7034472" y="3440766"/>
            <a:ext cx="631133" cy="1942427"/>
          </a:xfrm>
          <a:prstGeom prst="line">
            <a:avLst/>
          </a:prstGeom>
          <a:ln w="15875">
            <a:solidFill>
              <a:srgbClr val="B7CFE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680960" y="3703320"/>
            <a:ext cx="2011680" cy="548640"/>
          </a:xfrm>
          <a:prstGeom prst="rect">
            <a:avLst/>
          </a:prstGeom>
          <a:noFill/>
        </p:spPr>
        <p:txBody>
          <a:bodyPr wrap="square" anchor="ctr">
            <a:spAutoFit/>
          </a:bodyPr>
          <a:lstStyle/>
          <a:p>
            <a:pPr algn="ctr">
              <a:lnSpc>
                <a:spcPct val="100000"/>
              </a:lnSpc>
              <a:spcAft>
                <a:spcPts val="0"/>
              </a:spcAft>
            </a:pPr>
            <a:r>
              <a:rPr sz="1300" b="0">
                <a:solidFill>
                  <a:srgbClr val="7C848C"/>
                </a:solidFill>
                <a:latin typeface="Georgia"/>
              </a:rPr>
              <a:t>the text</a:t>
            </a:r>
          </a:p>
          <a:p>
            <a:pPr algn="ctr">
              <a:lnSpc>
                <a:spcPct val="100000"/>
              </a:lnSpc>
              <a:spcAft>
                <a:spcPts val="0"/>
              </a:spcAft>
            </a:pPr>
            <a:r>
              <a:rPr sz="1300" b="0">
                <a:solidFill>
                  <a:srgbClr val="7C848C"/>
                </a:solidFill>
                <a:latin typeface="Georgia"/>
              </a:rPr>
              <a:t>&amp; its situation</a:t>
            </a:r>
          </a:p>
        </p:txBody>
      </p:sp>
      <p:sp>
        <p:nvSpPr>
          <p:cNvPr id="20" name="Rounded Rectangle 19"/>
          <p:cNvSpPr/>
          <p:nvPr/>
        </p:nvSpPr>
        <p:spPr>
          <a:xfrm>
            <a:off x="7772400" y="1911095"/>
            <a:ext cx="1828800" cy="658368"/>
          </a:xfrm>
          <a:prstGeom prst="roundRect">
            <a:avLst/>
          </a:prstGeom>
          <a:solidFill>
            <a:srgbClr val="1D446E"/>
          </a:solidFill>
          <a:ln>
            <a:solidFill>
              <a:srgbClr val="1D44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5000"/>
              </a:lnSpc>
            </a:pPr>
            <a:r>
              <a:rPr sz="1500" b="1">
                <a:solidFill>
                  <a:srgbClr val="FFFFFF"/>
                </a:solidFill>
                <a:latin typeface="Calibri"/>
              </a:rPr>
              <a:t>Topic</a:t>
            </a:r>
          </a:p>
          <a:p>
            <a:pPr algn="ctr">
              <a:lnSpc>
                <a:spcPct val="95000"/>
              </a:lnSpc>
            </a:pPr>
            <a:r>
              <a:rPr sz="1100" i="1">
                <a:solidFill>
                  <a:srgbClr val="C9DCEF"/>
                </a:solidFill>
                <a:latin typeface="Calibri"/>
              </a:rPr>
              <a:t>Emne</a:t>
            </a:r>
          </a:p>
        </p:txBody>
      </p:sp>
      <p:sp>
        <p:nvSpPr>
          <p:cNvPr id="21" name="Rounded Rectangle 20"/>
          <p:cNvSpPr/>
          <p:nvPr/>
        </p:nvSpPr>
        <p:spPr>
          <a:xfrm>
            <a:off x="9424727" y="3111582"/>
            <a:ext cx="1828800" cy="658368"/>
          </a:xfrm>
          <a:prstGeom prst="roundRect">
            <a:avLst/>
          </a:prstGeom>
          <a:solidFill>
            <a:srgbClr val="1D446E"/>
          </a:solidFill>
          <a:ln>
            <a:solidFill>
              <a:srgbClr val="1D44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5000"/>
              </a:lnSpc>
            </a:pPr>
            <a:r>
              <a:rPr sz="1500" b="1">
                <a:solidFill>
                  <a:srgbClr val="FFFFFF"/>
                </a:solidFill>
                <a:latin typeface="Calibri"/>
              </a:rPr>
              <a:t>Receiver</a:t>
            </a:r>
          </a:p>
          <a:p>
            <a:pPr algn="ctr">
              <a:lnSpc>
                <a:spcPct val="95000"/>
              </a:lnSpc>
            </a:pPr>
            <a:r>
              <a:rPr sz="1100" i="1">
                <a:solidFill>
                  <a:srgbClr val="C9DCEF"/>
                </a:solidFill>
                <a:latin typeface="Calibri"/>
              </a:rPr>
              <a:t>Modtager</a:t>
            </a:r>
          </a:p>
        </p:txBody>
      </p:sp>
      <p:sp>
        <p:nvSpPr>
          <p:cNvPr id="22" name="Rounded Rectangle 21"/>
          <p:cNvSpPr/>
          <p:nvPr/>
        </p:nvSpPr>
        <p:spPr>
          <a:xfrm>
            <a:off x="8793594" y="5054009"/>
            <a:ext cx="1828800" cy="658368"/>
          </a:xfrm>
          <a:prstGeom prst="roundRect">
            <a:avLst/>
          </a:prstGeom>
          <a:solidFill>
            <a:srgbClr val="1D446E"/>
          </a:solidFill>
          <a:ln>
            <a:solidFill>
              <a:srgbClr val="1D44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5000"/>
              </a:lnSpc>
            </a:pPr>
            <a:r>
              <a:rPr sz="1500" b="1">
                <a:solidFill>
                  <a:srgbClr val="FFFFFF"/>
                </a:solidFill>
                <a:latin typeface="Calibri"/>
              </a:rPr>
              <a:t>Language</a:t>
            </a:r>
          </a:p>
          <a:p>
            <a:pPr algn="ctr">
              <a:lnSpc>
                <a:spcPct val="95000"/>
              </a:lnSpc>
            </a:pPr>
            <a:r>
              <a:rPr sz="1100" i="1">
                <a:solidFill>
                  <a:srgbClr val="C9DCEF"/>
                </a:solidFill>
                <a:latin typeface="Calibri"/>
              </a:rPr>
              <a:t>Sprog</a:t>
            </a:r>
          </a:p>
        </p:txBody>
      </p:sp>
      <p:sp>
        <p:nvSpPr>
          <p:cNvPr id="23" name="Rounded Rectangle 22"/>
          <p:cNvSpPr/>
          <p:nvPr/>
        </p:nvSpPr>
        <p:spPr>
          <a:xfrm>
            <a:off x="6751205" y="5054009"/>
            <a:ext cx="1828800" cy="658368"/>
          </a:xfrm>
          <a:prstGeom prst="roundRect">
            <a:avLst/>
          </a:prstGeom>
          <a:solidFill>
            <a:srgbClr val="1D446E"/>
          </a:solidFill>
          <a:ln>
            <a:solidFill>
              <a:srgbClr val="1D44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5000"/>
              </a:lnSpc>
            </a:pPr>
            <a:r>
              <a:rPr sz="1500" b="1">
                <a:solidFill>
                  <a:srgbClr val="FFFFFF"/>
                </a:solidFill>
                <a:latin typeface="Calibri"/>
              </a:rPr>
              <a:t>Circumstances</a:t>
            </a:r>
          </a:p>
          <a:p>
            <a:pPr algn="ctr">
              <a:lnSpc>
                <a:spcPct val="95000"/>
              </a:lnSpc>
            </a:pPr>
            <a:r>
              <a:rPr sz="1100" i="1">
                <a:solidFill>
                  <a:srgbClr val="C9DCEF"/>
                </a:solidFill>
                <a:latin typeface="Calibri"/>
              </a:rPr>
              <a:t>Omstændigheder</a:t>
            </a:r>
          </a:p>
        </p:txBody>
      </p:sp>
      <p:sp>
        <p:nvSpPr>
          <p:cNvPr id="24" name="Rounded Rectangle 23"/>
          <p:cNvSpPr/>
          <p:nvPr/>
        </p:nvSpPr>
        <p:spPr>
          <a:xfrm>
            <a:off x="6120072" y="3111582"/>
            <a:ext cx="1828800" cy="658368"/>
          </a:xfrm>
          <a:prstGeom prst="roundRect">
            <a:avLst/>
          </a:prstGeom>
          <a:solidFill>
            <a:srgbClr val="1D446E"/>
          </a:solidFill>
          <a:ln>
            <a:solidFill>
              <a:srgbClr val="1D44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5000"/>
              </a:lnSpc>
            </a:pPr>
            <a:r>
              <a:rPr sz="1500" b="1">
                <a:solidFill>
                  <a:srgbClr val="FFFFFF"/>
                </a:solidFill>
                <a:latin typeface="Calibri"/>
              </a:rPr>
              <a:t>Sender</a:t>
            </a:r>
          </a:p>
          <a:p>
            <a:pPr algn="ctr">
              <a:lnSpc>
                <a:spcPct val="95000"/>
              </a:lnSpc>
            </a:pPr>
            <a:r>
              <a:rPr sz="1100" i="1">
                <a:solidFill>
                  <a:srgbClr val="C9DCEF"/>
                </a:solidFill>
                <a:latin typeface="Calibri"/>
              </a:rPr>
              <a:t>Afsender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D4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789920" cy="365760"/>
          </a:xfrm>
          <a:prstGeom prst="rect">
            <a:avLst/>
          </a:prstGeom>
          <a:noFill/>
        </p:spPr>
        <p:txBody>
          <a:bodyPr wrap="square" anchor="t">
            <a:spAutoFit/>
          </a:bodyPr>
          <a:lstStyle/>
          <a:p>
            <a:pPr algn="l">
              <a:lnSpc>
                <a:spcPct val="110000"/>
              </a:lnSpc>
              <a:spcAft>
                <a:spcPts val="800"/>
              </a:spcAft>
            </a:pPr>
            <a:r>
              <a:rPr sz="1300" b="1">
                <a:solidFill>
                  <a:srgbClr val="2F6FB0"/>
                </a:solidFill>
                <a:latin typeface="Calibri"/>
              </a:rPr>
              <a:t>RHETORIC</a:t>
            </a:r>
          </a:p>
        </p:txBody>
      </p:sp>
      <p:sp>
        <p:nvSpPr>
          <p:cNvPr id="4" name="TextBox 3"/>
          <p:cNvSpPr txBox="1"/>
          <p:nvPr/>
        </p:nvSpPr>
        <p:spPr>
          <a:xfrm>
            <a:off x="640080" y="886968"/>
            <a:ext cx="10972800" cy="914400"/>
          </a:xfrm>
          <a:prstGeom prst="rect">
            <a:avLst/>
          </a:prstGeom>
          <a:noFill/>
        </p:spPr>
        <p:txBody>
          <a:bodyPr wrap="square" anchor="t">
            <a:spAutoFit/>
          </a:bodyPr>
          <a:lstStyle/>
          <a:p>
            <a:pPr algn="l">
              <a:lnSpc>
                <a:spcPct val="110000"/>
              </a:lnSpc>
              <a:spcAft>
                <a:spcPts val="800"/>
              </a:spcAft>
            </a:pPr>
            <a:r>
              <a:rPr sz="3000" b="1">
                <a:solidFill>
                  <a:srgbClr val="1D446E"/>
                </a:solidFill>
                <a:latin typeface="Georgia"/>
              </a:rPr>
              <a:t>Persuasion &amp; rhetorical devices</a:t>
            </a:r>
          </a:p>
        </p:txBody>
      </p:sp>
      <p:sp>
        <p:nvSpPr>
          <p:cNvPr id="5" name="Rectangle 4"/>
          <p:cNvSpPr/>
          <p:nvPr/>
        </p:nvSpPr>
        <p:spPr>
          <a:xfrm>
            <a:off x="658368" y="1728216"/>
            <a:ext cx="1554480" cy="41148"/>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46520"/>
            <a:ext cx="7315200" cy="320040"/>
          </a:xfrm>
          <a:prstGeom prst="rect">
            <a:avLst/>
          </a:prstGeom>
          <a:noFill/>
        </p:spPr>
        <p:txBody>
          <a:bodyPr wrap="square" anchor="t">
            <a:spAutoFit/>
          </a:bodyPr>
          <a:lstStyle/>
          <a:p>
            <a:pPr algn="l">
              <a:lnSpc>
                <a:spcPct val="110000"/>
              </a:lnSpc>
              <a:spcAft>
                <a:spcPts val="800"/>
              </a:spcAft>
            </a:pPr>
            <a:r>
              <a:rPr sz="1000" b="0">
                <a:solidFill>
                  <a:srgbClr val="7C848C"/>
                </a:solidFill>
                <a:latin typeface="Calibri"/>
              </a:rPr>
              <a:t>Consumerism &amp; Fast Fashion</a:t>
            </a:r>
          </a:p>
        </p:txBody>
      </p:sp>
      <p:sp>
        <p:nvSpPr>
          <p:cNvPr id="7" name="TextBox 6"/>
          <p:cNvSpPr txBox="1"/>
          <p:nvPr/>
        </p:nvSpPr>
        <p:spPr>
          <a:xfrm>
            <a:off x="10972800" y="6446520"/>
            <a:ext cx="822960" cy="320040"/>
          </a:xfrm>
          <a:prstGeom prst="rect">
            <a:avLst/>
          </a:prstGeom>
          <a:noFill/>
        </p:spPr>
        <p:txBody>
          <a:bodyPr wrap="square" anchor="t">
            <a:spAutoFit/>
          </a:bodyPr>
          <a:lstStyle/>
          <a:p>
            <a:pPr algn="r">
              <a:lnSpc>
                <a:spcPct val="110000"/>
              </a:lnSpc>
              <a:spcAft>
                <a:spcPts val="800"/>
              </a:spcAft>
            </a:pPr>
            <a:r>
              <a:rPr sz="1000" b="0">
                <a:solidFill>
                  <a:srgbClr val="7C848C"/>
                </a:solidFill>
                <a:latin typeface="Calibri"/>
              </a:rPr>
              <a:t>5</a:t>
            </a:r>
          </a:p>
        </p:txBody>
      </p:sp>
      <p:sp>
        <p:nvSpPr>
          <p:cNvPr id="8" name="TextBox 7"/>
          <p:cNvSpPr txBox="1"/>
          <p:nvPr/>
        </p:nvSpPr>
        <p:spPr>
          <a:xfrm>
            <a:off x="777240" y="2029967"/>
            <a:ext cx="5029200" cy="457200"/>
          </a:xfrm>
          <a:prstGeom prst="rect">
            <a:avLst/>
          </a:prstGeom>
          <a:noFill/>
        </p:spPr>
        <p:txBody>
          <a:bodyPr wrap="square" anchor="t">
            <a:spAutoFit/>
          </a:bodyPr>
          <a:lstStyle/>
          <a:p>
            <a:pPr algn="l">
              <a:lnSpc>
                <a:spcPct val="110000"/>
              </a:lnSpc>
              <a:spcAft>
                <a:spcPts val="800"/>
              </a:spcAft>
            </a:pPr>
            <a:r>
              <a:rPr sz="1900" b="1">
                <a:solidFill>
                  <a:srgbClr val="1D446E"/>
                </a:solidFill>
                <a:latin typeface="Georgia"/>
              </a:rPr>
              <a:t>Modes of persuasion</a:t>
            </a:r>
          </a:p>
        </p:txBody>
      </p:sp>
      <p:sp>
        <p:nvSpPr>
          <p:cNvPr id="9" name="Rectangle 8"/>
          <p:cNvSpPr/>
          <p:nvPr/>
        </p:nvSpPr>
        <p:spPr>
          <a:xfrm>
            <a:off x="795528" y="2487168"/>
            <a:ext cx="822960" cy="36576"/>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88335"/>
            <a:ext cx="5029200" cy="3291840"/>
          </a:xfrm>
          <a:prstGeom prst="rect">
            <a:avLst/>
          </a:prstGeom>
          <a:noFill/>
        </p:spPr>
        <p:txBody>
          <a:bodyPr wrap="square" anchor="t">
            <a:spAutoFit/>
          </a:bodyPr>
          <a:lstStyle/>
          <a:p>
            <a:pPr algn="l">
              <a:lnSpc>
                <a:spcPct val="112000"/>
              </a:lnSpc>
              <a:spcAft>
                <a:spcPts val="900"/>
              </a:spcAft>
            </a:pPr>
            <a:r>
              <a:rPr sz="1300" b="1">
                <a:solidFill>
                  <a:srgbClr val="2F6FB0"/>
                </a:solidFill>
                <a:latin typeface="Calibri"/>
              </a:rPr>
              <a:t>▸  </a:t>
            </a:r>
            <a:r>
              <a:rPr sz="1600" b="0">
                <a:solidFill>
                  <a:srgbClr val="2A2E33"/>
                </a:solidFill>
                <a:latin typeface="Calibri"/>
              </a:rPr>
              <a:t>Ethos – Earth.org’s authority; sober, well-sourced tone</a:t>
            </a:r>
          </a:p>
          <a:p>
            <a:pPr algn="l">
              <a:lnSpc>
                <a:spcPct val="112000"/>
              </a:lnSpc>
              <a:spcAft>
                <a:spcPts val="900"/>
              </a:spcAft>
            </a:pPr>
            <a:r>
              <a:rPr sz="1300" b="1">
                <a:solidFill>
                  <a:srgbClr val="2F6FB0"/>
                </a:solidFill>
                <a:latin typeface="Calibri"/>
              </a:rPr>
              <a:t>▸  </a:t>
            </a:r>
            <a:r>
              <a:rPr sz="1600" b="0">
                <a:solidFill>
                  <a:srgbClr val="2A2E33"/>
                </a:solidFill>
                <a:latin typeface="Calibri"/>
              </a:rPr>
              <a:t>Logos – statistics &amp; cause–effect</a:t>
            </a:r>
          </a:p>
          <a:p>
            <a:pPr algn="l">
              <a:lnSpc>
                <a:spcPct val="112000"/>
              </a:lnSpc>
              <a:spcAft>
                <a:spcPts val="900"/>
              </a:spcAft>
            </a:pPr>
            <a:r>
              <a:rPr sz="1300" b="0">
                <a:solidFill>
                  <a:srgbClr val="7C848C"/>
                </a:solidFill>
                <a:latin typeface="Calibri"/>
              </a:rPr>
              <a:t>      –  </a:t>
            </a:r>
            <a:r>
              <a:rPr sz="1400" b="0">
                <a:solidFill>
                  <a:srgbClr val="444C55"/>
                </a:solidFill>
                <a:latin typeface="Calibri"/>
              </a:rPr>
              <a:t>60% of surveyed Indian mill workers under 18</a:t>
            </a:r>
          </a:p>
          <a:p>
            <a:pPr algn="l">
              <a:lnSpc>
                <a:spcPct val="112000"/>
              </a:lnSpc>
              <a:spcAft>
                <a:spcPts val="900"/>
              </a:spcAft>
            </a:pPr>
            <a:r>
              <a:rPr sz="1300" b="0">
                <a:solidFill>
                  <a:srgbClr val="7C848C"/>
                </a:solidFill>
                <a:latin typeface="Calibri"/>
              </a:rPr>
              <a:t>      –  </a:t>
            </a:r>
            <a:r>
              <a:rPr sz="1400" b="0">
                <a:solidFill>
                  <a:srgbClr val="444C55"/>
                </a:solidFill>
                <a:latin typeface="Calibri"/>
              </a:rPr>
              <a:t>1,000+ Rana Plaza deaths; wages cover only 1/5–1/2 of needs</a:t>
            </a:r>
          </a:p>
          <a:p>
            <a:pPr algn="l">
              <a:lnSpc>
                <a:spcPct val="112000"/>
              </a:lnSpc>
              <a:spcAft>
                <a:spcPts val="900"/>
              </a:spcAft>
            </a:pPr>
            <a:r>
              <a:rPr sz="1300" b="1">
                <a:solidFill>
                  <a:srgbClr val="2F6FB0"/>
                </a:solidFill>
                <a:latin typeface="Calibri"/>
              </a:rPr>
              <a:t>▸  </a:t>
            </a:r>
            <a:r>
              <a:rPr sz="1600" b="0">
                <a:solidFill>
                  <a:srgbClr val="2A2E33"/>
                </a:solidFill>
                <a:latin typeface="Calibri"/>
              </a:rPr>
              <a:t>Pathos – emotive language; women &amp; children; cruel conditions</a:t>
            </a:r>
          </a:p>
        </p:txBody>
      </p:sp>
      <p:sp>
        <p:nvSpPr>
          <p:cNvPr id="11" name="TextBox 10"/>
          <p:cNvSpPr txBox="1"/>
          <p:nvPr/>
        </p:nvSpPr>
        <p:spPr>
          <a:xfrm>
            <a:off x="6355080" y="2029967"/>
            <a:ext cx="5029200" cy="457200"/>
          </a:xfrm>
          <a:prstGeom prst="rect">
            <a:avLst/>
          </a:prstGeom>
          <a:noFill/>
        </p:spPr>
        <p:txBody>
          <a:bodyPr wrap="square" anchor="t">
            <a:spAutoFit/>
          </a:bodyPr>
          <a:lstStyle/>
          <a:p>
            <a:pPr algn="l">
              <a:lnSpc>
                <a:spcPct val="110000"/>
              </a:lnSpc>
              <a:spcAft>
                <a:spcPts val="800"/>
              </a:spcAft>
            </a:pPr>
            <a:r>
              <a:rPr sz="1900" b="1">
                <a:solidFill>
                  <a:srgbClr val="1D446E"/>
                </a:solidFill>
                <a:latin typeface="Georgia"/>
              </a:rPr>
              <a:t>Other devices</a:t>
            </a:r>
          </a:p>
        </p:txBody>
      </p:sp>
      <p:sp>
        <p:nvSpPr>
          <p:cNvPr id="12" name="Rectangle 11"/>
          <p:cNvSpPr/>
          <p:nvPr/>
        </p:nvSpPr>
        <p:spPr>
          <a:xfrm>
            <a:off x="6373368" y="2487168"/>
            <a:ext cx="822960" cy="36576"/>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88335"/>
            <a:ext cx="5029200" cy="3291840"/>
          </a:xfrm>
          <a:prstGeom prst="rect">
            <a:avLst/>
          </a:prstGeom>
          <a:noFill/>
        </p:spPr>
        <p:txBody>
          <a:bodyPr wrap="square" anchor="t">
            <a:spAutoFit/>
          </a:bodyPr>
          <a:lstStyle/>
          <a:p>
            <a:pPr algn="l">
              <a:lnSpc>
                <a:spcPct val="112000"/>
              </a:lnSpc>
              <a:spcAft>
                <a:spcPts val="900"/>
              </a:spcAft>
            </a:pPr>
            <a:r>
              <a:rPr sz="1300" b="1">
                <a:solidFill>
                  <a:srgbClr val="2F6FB0"/>
                </a:solidFill>
                <a:latin typeface="Calibri"/>
              </a:rPr>
              <a:t>▸  </a:t>
            </a:r>
            <a:r>
              <a:rPr sz="1600" b="0">
                <a:solidFill>
                  <a:srgbClr val="2A2E33"/>
                </a:solidFill>
                <a:latin typeface="Calibri"/>
              </a:rPr>
              <a:t>Loaded / connotative language → guilt &amp; moral appeal</a:t>
            </a:r>
          </a:p>
          <a:p>
            <a:pPr algn="l">
              <a:lnSpc>
                <a:spcPct val="112000"/>
              </a:lnSpc>
              <a:spcAft>
                <a:spcPts val="900"/>
              </a:spcAft>
            </a:pPr>
            <a:r>
              <a:rPr sz="1300" b="1">
                <a:solidFill>
                  <a:srgbClr val="2F6FB0"/>
                </a:solidFill>
                <a:latin typeface="Calibri"/>
              </a:rPr>
              <a:t>▸  </a:t>
            </a:r>
            <a:r>
              <a:rPr sz="1600" b="0">
                <a:solidFill>
                  <a:srgbClr val="2A2E33"/>
                </a:solidFill>
                <a:latin typeface="Calibri"/>
              </a:rPr>
              <a:t>Vivid imagery &amp; near-hyperbole</a:t>
            </a:r>
          </a:p>
          <a:p>
            <a:pPr algn="l">
              <a:lnSpc>
                <a:spcPct val="112000"/>
              </a:lnSpc>
              <a:spcAft>
                <a:spcPts val="900"/>
              </a:spcAft>
            </a:pPr>
            <a:r>
              <a:rPr sz="1300" b="0">
                <a:solidFill>
                  <a:srgbClr val="7C848C"/>
                </a:solidFill>
                <a:latin typeface="Calibri"/>
              </a:rPr>
              <a:t>      –  </a:t>
            </a:r>
            <a:r>
              <a:rPr sz="1400" b="0">
                <a:solidFill>
                  <a:srgbClr val="444C55"/>
                </a:solidFill>
                <a:latin typeface="Calibri"/>
              </a:rPr>
              <a:t>“a truckload burned every second”</a:t>
            </a:r>
          </a:p>
          <a:p>
            <a:pPr algn="l">
              <a:lnSpc>
                <a:spcPct val="112000"/>
              </a:lnSpc>
              <a:spcAft>
                <a:spcPts val="900"/>
              </a:spcAft>
            </a:pPr>
            <a:r>
              <a:rPr sz="1300" b="1">
                <a:solidFill>
                  <a:srgbClr val="2F6FB0"/>
                </a:solidFill>
                <a:latin typeface="Calibri"/>
              </a:rPr>
              <a:t>▸  </a:t>
            </a:r>
            <a:r>
              <a:rPr sz="1600" b="0">
                <a:solidFill>
                  <a:srgbClr val="2A2E33"/>
                </a:solidFill>
                <a:latin typeface="Calibri"/>
              </a:rPr>
              <a:t>Contrast: cheap clothes ↔ high human cost</a:t>
            </a:r>
          </a:p>
          <a:p>
            <a:pPr algn="l">
              <a:lnSpc>
                <a:spcPct val="112000"/>
              </a:lnSpc>
              <a:spcAft>
                <a:spcPts val="900"/>
              </a:spcAft>
            </a:pPr>
            <a:r>
              <a:rPr sz="1300" b="1">
                <a:solidFill>
                  <a:srgbClr val="2F6FB0"/>
                </a:solidFill>
                <a:latin typeface="Calibri"/>
              </a:rPr>
              <a:t>▸  </a:t>
            </a:r>
            <a:r>
              <a:rPr sz="1600" b="0">
                <a:solidFill>
                  <a:srgbClr val="2A2E33"/>
                </a:solidFill>
                <a:latin typeface="Calibri"/>
              </a:rPr>
              <a:t>Authority &amp; evidence – surveys, named events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D4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789920" cy="365760"/>
          </a:xfrm>
          <a:prstGeom prst="rect">
            <a:avLst/>
          </a:prstGeom>
          <a:noFill/>
        </p:spPr>
        <p:txBody>
          <a:bodyPr wrap="square" anchor="t">
            <a:spAutoFit/>
          </a:bodyPr>
          <a:lstStyle/>
          <a:p>
            <a:pPr algn="l">
              <a:lnSpc>
                <a:spcPct val="110000"/>
              </a:lnSpc>
              <a:spcAft>
                <a:spcPts val="800"/>
              </a:spcAft>
            </a:pPr>
            <a:r>
              <a:rPr sz="1300" b="1">
                <a:solidFill>
                  <a:srgbClr val="2F6FB0"/>
                </a:solidFill>
                <a:latin typeface="Calibri"/>
              </a:rPr>
              <a:t>INTERPRETATION</a:t>
            </a:r>
          </a:p>
        </p:txBody>
      </p:sp>
      <p:sp>
        <p:nvSpPr>
          <p:cNvPr id="4" name="TextBox 3"/>
          <p:cNvSpPr txBox="1"/>
          <p:nvPr/>
        </p:nvSpPr>
        <p:spPr>
          <a:xfrm>
            <a:off x="640080" y="886968"/>
            <a:ext cx="10972800" cy="914400"/>
          </a:xfrm>
          <a:prstGeom prst="rect">
            <a:avLst/>
          </a:prstGeom>
          <a:noFill/>
        </p:spPr>
        <p:txBody>
          <a:bodyPr wrap="square" anchor="t">
            <a:spAutoFit/>
          </a:bodyPr>
          <a:lstStyle/>
          <a:p>
            <a:pPr algn="l">
              <a:lnSpc>
                <a:spcPct val="110000"/>
              </a:lnSpc>
              <a:spcAft>
                <a:spcPts val="800"/>
              </a:spcAft>
            </a:pPr>
            <a:r>
              <a:rPr sz="3000" b="1">
                <a:solidFill>
                  <a:srgbClr val="1D446E"/>
                </a:solidFill>
                <a:latin typeface="Georgia"/>
              </a:rPr>
              <a:t>Message, intention &amp; language</a:t>
            </a:r>
          </a:p>
        </p:txBody>
      </p:sp>
      <p:sp>
        <p:nvSpPr>
          <p:cNvPr id="5" name="Rectangle 4"/>
          <p:cNvSpPr/>
          <p:nvPr/>
        </p:nvSpPr>
        <p:spPr>
          <a:xfrm>
            <a:off x="658368" y="1728216"/>
            <a:ext cx="1554480" cy="41148"/>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46520"/>
            <a:ext cx="7315200" cy="320040"/>
          </a:xfrm>
          <a:prstGeom prst="rect">
            <a:avLst/>
          </a:prstGeom>
          <a:noFill/>
        </p:spPr>
        <p:txBody>
          <a:bodyPr wrap="square" anchor="t">
            <a:spAutoFit/>
          </a:bodyPr>
          <a:lstStyle/>
          <a:p>
            <a:pPr algn="l">
              <a:lnSpc>
                <a:spcPct val="110000"/>
              </a:lnSpc>
              <a:spcAft>
                <a:spcPts val="800"/>
              </a:spcAft>
            </a:pPr>
            <a:r>
              <a:rPr sz="1000" b="0">
                <a:solidFill>
                  <a:srgbClr val="7C848C"/>
                </a:solidFill>
                <a:latin typeface="Calibri"/>
              </a:rPr>
              <a:t>Consumerism &amp; Fast Fashion</a:t>
            </a:r>
          </a:p>
        </p:txBody>
      </p:sp>
      <p:sp>
        <p:nvSpPr>
          <p:cNvPr id="7" name="TextBox 6"/>
          <p:cNvSpPr txBox="1"/>
          <p:nvPr/>
        </p:nvSpPr>
        <p:spPr>
          <a:xfrm>
            <a:off x="10972800" y="6446520"/>
            <a:ext cx="822960" cy="320040"/>
          </a:xfrm>
          <a:prstGeom prst="rect">
            <a:avLst/>
          </a:prstGeom>
          <a:noFill/>
        </p:spPr>
        <p:txBody>
          <a:bodyPr wrap="square" anchor="t">
            <a:spAutoFit/>
          </a:bodyPr>
          <a:lstStyle/>
          <a:p>
            <a:pPr algn="r">
              <a:lnSpc>
                <a:spcPct val="110000"/>
              </a:lnSpc>
              <a:spcAft>
                <a:spcPts val="800"/>
              </a:spcAft>
            </a:pPr>
            <a:r>
              <a:rPr sz="1000" b="0">
                <a:solidFill>
                  <a:srgbClr val="7C848C"/>
                </a:solidFill>
                <a:latin typeface="Calibri"/>
              </a:rPr>
              <a:t>6</a:t>
            </a:r>
          </a:p>
        </p:txBody>
      </p:sp>
      <p:sp>
        <p:nvSpPr>
          <p:cNvPr id="8" name="TextBox 7"/>
          <p:cNvSpPr txBox="1"/>
          <p:nvPr/>
        </p:nvSpPr>
        <p:spPr>
          <a:xfrm>
            <a:off x="868680" y="2029967"/>
            <a:ext cx="10607040" cy="4023360"/>
          </a:xfrm>
          <a:prstGeom prst="rect">
            <a:avLst/>
          </a:prstGeom>
          <a:noFill/>
        </p:spPr>
        <p:txBody>
          <a:bodyPr wrap="square" anchor="t">
            <a:spAutoFit/>
          </a:bodyPr>
          <a:lstStyle/>
          <a:p>
            <a:pPr algn="l">
              <a:lnSpc>
                <a:spcPct val="114000"/>
              </a:lnSpc>
              <a:spcAft>
                <a:spcPts val="1200"/>
              </a:spcAft>
            </a:pPr>
            <a:r>
              <a:rPr sz="1600" b="1">
                <a:solidFill>
                  <a:srgbClr val="2F6FB0"/>
                </a:solidFill>
                <a:latin typeface="Calibri"/>
              </a:rPr>
              <a:t>▸  </a:t>
            </a:r>
            <a:r>
              <a:rPr sz="1900" b="0">
                <a:solidFill>
                  <a:srgbClr val="2A2E33"/>
                </a:solidFill>
                <a:latin typeface="Calibri"/>
              </a:rPr>
              <a:t>Message: the cheap price hides the true human &amp; environmental cost</a:t>
            </a:r>
          </a:p>
          <a:p>
            <a:pPr algn="l">
              <a:lnSpc>
                <a:spcPct val="114000"/>
              </a:lnSpc>
              <a:spcAft>
                <a:spcPts val="1200"/>
              </a:spcAft>
            </a:pPr>
            <a:r>
              <a:rPr sz="1600" b="1">
                <a:solidFill>
                  <a:srgbClr val="2F6FB0"/>
                </a:solidFill>
                <a:latin typeface="Calibri"/>
              </a:rPr>
              <a:t>▸  </a:t>
            </a:r>
            <a:r>
              <a:rPr sz="1900" b="0">
                <a:solidFill>
                  <a:srgbClr val="2A2E33"/>
                </a:solidFill>
                <a:latin typeface="Calibri"/>
              </a:rPr>
              <a:t>Intention: to inform AND persuade — a call to rethink consumption</a:t>
            </a:r>
          </a:p>
          <a:p>
            <a:pPr algn="l">
              <a:lnSpc>
                <a:spcPct val="114000"/>
              </a:lnSpc>
              <a:spcAft>
                <a:spcPts val="1200"/>
              </a:spcAft>
            </a:pPr>
            <a:r>
              <a:rPr sz="1600" b="1">
                <a:solidFill>
                  <a:srgbClr val="2F6FB0"/>
                </a:solidFill>
                <a:latin typeface="Calibri"/>
              </a:rPr>
              <a:t>▸  </a:t>
            </a:r>
            <a:r>
              <a:rPr sz="1900" b="0">
                <a:solidFill>
                  <a:srgbClr val="2A2E33"/>
                </a:solidFill>
                <a:latin typeface="Calibri"/>
              </a:rPr>
              <a:t>Sender ↔ receiver language largely matches – formal yet emotive fits informed, value-driven readers</a:t>
            </a:r>
          </a:p>
          <a:p>
            <a:pPr algn="l">
              <a:lnSpc>
                <a:spcPct val="114000"/>
              </a:lnSpc>
              <a:spcAft>
                <a:spcPts val="1200"/>
              </a:spcAft>
            </a:pPr>
            <a:r>
              <a:rPr sz="1600" b="1">
                <a:solidFill>
                  <a:srgbClr val="2F6FB0"/>
                </a:solidFill>
                <a:latin typeface="Calibri"/>
              </a:rPr>
              <a:t>▸  </a:t>
            </a:r>
            <a:r>
              <a:rPr sz="1900" b="0">
                <a:solidFill>
                  <a:srgbClr val="2A2E33"/>
                </a:solidFill>
                <a:latin typeface="Calibri"/>
              </a:rPr>
              <a:t>Small risk: very emotive words may feel one-sided / ‘preaching to the choir’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D4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789920" cy="365760"/>
          </a:xfrm>
          <a:prstGeom prst="rect">
            <a:avLst/>
          </a:prstGeom>
          <a:noFill/>
        </p:spPr>
        <p:txBody>
          <a:bodyPr wrap="square" anchor="t">
            <a:spAutoFit/>
          </a:bodyPr>
          <a:lstStyle/>
          <a:p>
            <a:pPr algn="l">
              <a:lnSpc>
                <a:spcPct val="110000"/>
              </a:lnSpc>
              <a:spcAft>
                <a:spcPts val="800"/>
              </a:spcAft>
            </a:pPr>
            <a:r>
              <a:rPr sz="1300" b="1">
                <a:solidFill>
                  <a:srgbClr val="2F6FB0"/>
                </a:solidFill>
                <a:latin typeface="Calibri"/>
              </a:rPr>
              <a:t>DISCUSSION</a:t>
            </a:r>
          </a:p>
        </p:txBody>
      </p:sp>
      <p:sp>
        <p:nvSpPr>
          <p:cNvPr id="4" name="TextBox 3"/>
          <p:cNvSpPr txBox="1"/>
          <p:nvPr/>
        </p:nvSpPr>
        <p:spPr>
          <a:xfrm>
            <a:off x="640080" y="886968"/>
            <a:ext cx="10972800" cy="914400"/>
          </a:xfrm>
          <a:prstGeom prst="rect">
            <a:avLst/>
          </a:prstGeom>
          <a:noFill/>
        </p:spPr>
        <p:txBody>
          <a:bodyPr wrap="square" anchor="t">
            <a:spAutoFit/>
          </a:bodyPr>
          <a:lstStyle/>
          <a:p>
            <a:pPr algn="l">
              <a:lnSpc>
                <a:spcPct val="110000"/>
              </a:lnSpc>
              <a:spcAft>
                <a:spcPts val="800"/>
              </a:spcAft>
            </a:pPr>
            <a:r>
              <a:rPr sz="3000" b="1">
                <a:solidFill>
                  <a:srgbClr val="1D446E"/>
                </a:solidFill>
                <a:latin typeface="Georgia"/>
              </a:rPr>
              <a:t>Fast fashion: pros &amp; cons</a:t>
            </a:r>
          </a:p>
        </p:txBody>
      </p:sp>
      <p:sp>
        <p:nvSpPr>
          <p:cNvPr id="5" name="Rectangle 4"/>
          <p:cNvSpPr/>
          <p:nvPr/>
        </p:nvSpPr>
        <p:spPr>
          <a:xfrm>
            <a:off x="658368" y="1728216"/>
            <a:ext cx="1554480" cy="41148"/>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46520"/>
            <a:ext cx="7315200" cy="320040"/>
          </a:xfrm>
          <a:prstGeom prst="rect">
            <a:avLst/>
          </a:prstGeom>
          <a:noFill/>
        </p:spPr>
        <p:txBody>
          <a:bodyPr wrap="square" anchor="t">
            <a:spAutoFit/>
          </a:bodyPr>
          <a:lstStyle/>
          <a:p>
            <a:pPr algn="l">
              <a:lnSpc>
                <a:spcPct val="110000"/>
              </a:lnSpc>
              <a:spcAft>
                <a:spcPts val="800"/>
              </a:spcAft>
            </a:pPr>
            <a:r>
              <a:rPr sz="1000" b="0">
                <a:solidFill>
                  <a:srgbClr val="7C848C"/>
                </a:solidFill>
                <a:latin typeface="Calibri"/>
              </a:rPr>
              <a:t>Consumerism &amp; Fast Fashion</a:t>
            </a:r>
          </a:p>
        </p:txBody>
      </p:sp>
      <p:sp>
        <p:nvSpPr>
          <p:cNvPr id="7" name="TextBox 6"/>
          <p:cNvSpPr txBox="1"/>
          <p:nvPr/>
        </p:nvSpPr>
        <p:spPr>
          <a:xfrm>
            <a:off x="10972800" y="6446520"/>
            <a:ext cx="822960" cy="320040"/>
          </a:xfrm>
          <a:prstGeom prst="rect">
            <a:avLst/>
          </a:prstGeom>
          <a:noFill/>
        </p:spPr>
        <p:txBody>
          <a:bodyPr wrap="square" anchor="t">
            <a:spAutoFit/>
          </a:bodyPr>
          <a:lstStyle/>
          <a:p>
            <a:pPr algn="r">
              <a:lnSpc>
                <a:spcPct val="110000"/>
              </a:lnSpc>
              <a:spcAft>
                <a:spcPts val="800"/>
              </a:spcAft>
            </a:pPr>
            <a:r>
              <a:rPr sz="1000" b="0">
                <a:solidFill>
                  <a:srgbClr val="7C848C"/>
                </a:solidFill>
                <a:latin typeface="Calibri"/>
              </a:rPr>
              <a:t>7</a:t>
            </a:r>
          </a:p>
        </p:txBody>
      </p:sp>
      <p:sp>
        <p:nvSpPr>
          <p:cNvPr id="8" name="TextBox 7"/>
          <p:cNvSpPr txBox="1"/>
          <p:nvPr/>
        </p:nvSpPr>
        <p:spPr>
          <a:xfrm>
            <a:off x="777240" y="2029967"/>
            <a:ext cx="5029200" cy="457200"/>
          </a:xfrm>
          <a:prstGeom prst="rect">
            <a:avLst/>
          </a:prstGeom>
          <a:noFill/>
        </p:spPr>
        <p:txBody>
          <a:bodyPr wrap="square" anchor="t">
            <a:spAutoFit/>
          </a:bodyPr>
          <a:lstStyle/>
          <a:p>
            <a:pPr algn="l">
              <a:lnSpc>
                <a:spcPct val="110000"/>
              </a:lnSpc>
              <a:spcAft>
                <a:spcPts val="800"/>
              </a:spcAft>
            </a:pPr>
            <a:r>
              <a:rPr sz="1900" b="1">
                <a:solidFill>
                  <a:srgbClr val="1D446E"/>
                </a:solidFill>
                <a:latin typeface="Georgia"/>
              </a:rPr>
              <a:t>Pros</a:t>
            </a:r>
          </a:p>
        </p:txBody>
      </p:sp>
      <p:sp>
        <p:nvSpPr>
          <p:cNvPr id="9" name="Rectangle 8"/>
          <p:cNvSpPr/>
          <p:nvPr/>
        </p:nvSpPr>
        <p:spPr>
          <a:xfrm>
            <a:off x="795528" y="2487168"/>
            <a:ext cx="822960" cy="36576"/>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88335"/>
            <a:ext cx="5029200" cy="3291840"/>
          </a:xfrm>
          <a:prstGeom prst="rect">
            <a:avLst/>
          </a:prstGeom>
          <a:noFill/>
        </p:spPr>
        <p:txBody>
          <a:bodyPr wrap="square" anchor="t">
            <a:spAutoFit/>
          </a:bodyPr>
          <a:lstStyle/>
          <a:p>
            <a:pPr algn="l">
              <a:lnSpc>
                <a:spcPct val="112000"/>
              </a:lnSpc>
              <a:spcAft>
                <a:spcPts val="900"/>
              </a:spcAft>
            </a:pPr>
            <a:r>
              <a:rPr sz="1300" b="1">
                <a:solidFill>
                  <a:srgbClr val="2F6FB0"/>
                </a:solidFill>
                <a:latin typeface="Calibri"/>
              </a:rPr>
              <a:t>▸  </a:t>
            </a:r>
            <a:r>
              <a:rPr sz="1600" b="0">
                <a:solidFill>
                  <a:srgbClr val="2A2E33"/>
                </a:solidFill>
                <a:latin typeface="Calibri"/>
              </a:rPr>
              <a:t>Affordable &amp; accessible – style for low incomes</a:t>
            </a:r>
          </a:p>
          <a:p>
            <a:pPr algn="l">
              <a:lnSpc>
                <a:spcPct val="112000"/>
              </a:lnSpc>
              <a:spcAft>
                <a:spcPts val="900"/>
              </a:spcAft>
            </a:pPr>
            <a:r>
              <a:rPr sz="1300" b="1">
                <a:solidFill>
                  <a:srgbClr val="2F6FB0"/>
                </a:solidFill>
                <a:latin typeface="Calibri"/>
              </a:rPr>
              <a:t>▸  </a:t>
            </a:r>
            <a:r>
              <a:rPr sz="1600" b="0">
                <a:solidFill>
                  <a:srgbClr val="2A2E33"/>
                </a:solidFill>
                <a:latin typeface="Calibri"/>
              </a:rPr>
              <a:t>Jobs &amp; income in developing countries</a:t>
            </a:r>
          </a:p>
          <a:p>
            <a:pPr algn="l">
              <a:lnSpc>
                <a:spcPct val="112000"/>
              </a:lnSpc>
              <a:spcAft>
                <a:spcPts val="900"/>
              </a:spcAft>
            </a:pPr>
            <a:r>
              <a:rPr sz="1300" b="1">
                <a:solidFill>
                  <a:srgbClr val="2F6FB0"/>
                </a:solidFill>
                <a:latin typeface="Calibri"/>
              </a:rPr>
              <a:t>▸  </a:t>
            </a:r>
            <a:r>
              <a:rPr sz="1600" b="0">
                <a:solidFill>
                  <a:srgbClr val="2A2E33"/>
                </a:solidFill>
                <a:latin typeface="Calibri"/>
              </a:rPr>
              <a:t>Fast, varied; drives economic activity</a:t>
            </a:r>
          </a:p>
        </p:txBody>
      </p:sp>
      <p:sp>
        <p:nvSpPr>
          <p:cNvPr id="11" name="TextBox 10"/>
          <p:cNvSpPr txBox="1"/>
          <p:nvPr/>
        </p:nvSpPr>
        <p:spPr>
          <a:xfrm>
            <a:off x="6355080" y="2029967"/>
            <a:ext cx="5029200" cy="457200"/>
          </a:xfrm>
          <a:prstGeom prst="rect">
            <a:avLst/>
          </a:prstGeom>
          <a:noFill/>
        </p:spPr>
        <p:txBody>
          <a:bodyPr wrap="square" anchor="t">
            <a:spAutoFit/>
          </a:bodyPr>
          <a:lstStyle/>
          <a:p>
            <a:pPr algn="l">
              <a:lnSpc>
                <a:spcPct val="110000"/>
              </a:lnSpc>
              <a:spcAft>
                <a:spcPts val="800"/>
              </a:spcAft>
            </a:pPr>
            <a:r>
              <a:rPr sz="1900" b="1">
                <a:solidFill>
                  <a:srgbClr val="1D446E"/>
                </a:solidFill>
                <a:latin typeface="Georgia"/>
              </a:rPr>
              <a:t>Cons</a:t>
            </a:r>
          </a:p>
        </p:txBody>
      </p:sp>
      <p:sp>
        <p:nvSpPr>
          <p:cNvPr id="12" name="Rectangle 11"/>
          <p:cNvSpPr/>
          <p:nvPr/>
        </p:nvSpPr>
        <p:spPr>
          <a:xfrm>
            <a:off x="6373368" y="2487168"/>
            <a:ext cx="822960" cy="36576"/>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88335"/>
            <a:ext cx="5029200" cy="3291840"/>
          </a:xfrm>
          <a:prstGeom prst="rect">
            <a:avLst/>
          </a:prstGeom>
          <a:noFill/>
        </p:spPr>
        <p:txBody>
          <a:bodyPr wrap="square" anchor="t">
            <a:spAutoFit/>
          </a:bodyPr>
          <a:lstStyle/>
          <a:p>
            <a:pPr algn="l">
              <a:lnSpc>
                <a:spcPct val="112000"/>
              </a:lnSpc>
              <a:spcAft>
                <a:spcPts val="900"/>
              </a:spcAft>
            </a:pPr>
            <a:r>
              <a:rPr sz="1300" b="1">
                <a:solidFill>
                  <a:srgbClr val="2F6FB0"/>
                </a:solidFill>
                <a:latin typeface="Calibri"/>
              </a:rPr>
              <a:t>▸  </a:t>
            </a:r>
            <a:r>
              <a:rPr sz="1600" b="0">
                <a:solidFill>
                  <a:srgbClr val="2A2E33"/>
                </a:solidFill>
                <a:latin typeface="Calibri"/>
              </a:rPr>
              <a:t>Exploitation: poverty wages, child labour, unsafe factories</a:t>
            </a:r>
          </a:p>
          <a:p>
            <a:pPr algn="l">
              <a:lnSpc>
                <a:spcPct val="112000"/>
              </a:lnSpc>
              <a:spcAft>
                <a:spcPts val="900"/>
              </a:spcAft>
            </a:pPr>
            <a:r>
              <a:rPr sz="1300" b="1">
                <a:solidFill>
                  <a:srgbClr val="2F6FB0"/>
                </a:solidFill>
                <a:latin typeface="Calibri"/>
              </a:rPr>
              <a:t>▸  </a:t>
            </a:r>
            <a:r>
              <a:rPr sz="1600" b="0">
                <a:solidFill>
                  <a:srgbClr val="2A2E33"/>
                </a:solidFill>
                <a:latin typeface="Calibri"/>
              </a:rPr>
              <a:t>Environment: water pollution, textile waste, CO₂, microplastics</a:t>
            </a:r>
          </a:p>
          <a:p>
            <a:pPr algn="l">
              <a:lnSpc>
                <a:spcPct val="112000"/>
              </a:lnSpc>
              <a:spcAft>
                <a:spcPts val="900"/>
              </a:spcAft>
            </a:pPr>
            <a:r>
              <a:rPr sz="1300" b="1">
                <a:solidFill>
                  <a:srgbClr val="2F6FB0"/>
                </a:solidFill>
                <a:latin typeface="Calibri"/>
              </a:rPr>
              <a:t>▸  </a:t>
            </a:r>
            <a:r>
              <a:rPr sz="1600" b="0">
                <a:solidFill>
                  <a:srgbClr val="2A2E33"/>
                </a:solidFill>
                <a:latin typeface="Calibri"/>
              </a:rPr>
              <a:t>Throwaway culture &amp; overconsumption</a:t>
            </a:r>
          </a:p>
          <a:p>
            <a:pPr algn="l">
              <a:lnSpc>
                <a:spcPct val="112000"/>
              </a:lnSpc>
              <a:spcAft>
                <a:spcPts val="900"/>
              </a:spcAft>
            </a:pPr>
            <a:r>
              <a:rPr sz="1300" b="1">
                <a:solidFill>
                  <a:srgbClr val="2F6FB0"/>
                </a:solidFill>
                <a:latin typeface="Calibri"/>
              </a:rPr>
              <a:t>▸  </a:t>
            </a:r>
            <a:r>
              <a:rPr sz="1600" b="0">
                <a:solidFill>
                  <a:srgbClr val="2A2E33"/>
                </a:solidFill>
                <a:latin typeface="Calibri"/>
              </a:rPr>
              <a:t>Greenwashing by brands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D4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789920" cy="365760"/>
          </a:xfrm>
          <a:prstGeom prst="rect">
            <a:avLst/>
          </a:prstGeom>
          <a:noFill/>
        </p:spPr>
        <p:txBody>
          <a:bodyPr wrap="square" anchor="t">
            <a:spAutoFit/>
          </a:bodyPr>
          <a:lstStyle/>
          <a:p>
            <a:pPr algn="l">
              <a:lnSpc>
                <a:spcPct val="110000"/>
              </a:lnSpc>
              <a:spcAft>
                <a:spcPts val="800"/>
              </a:spcAft>
            </a:pPr>
            <a:r>
              <a:rPr sz="1300" b="1">
                <a:solidFill>
                  <a:srgbClr val="2F6FB0"/>
                </a:solidFill>
                <a:latin typeface="Calibri"/>
              </a:rPr>
              <a:t>DISCUSSION</a:t>
            </a:r>
          </a:p>
        </p:txBody>
      </p:sp>
      <p:sp>
        <p:nvSpPr>
          <p:cNvPr id="4" name="TextBox 3"/>
          <p:cNvSpPr txBox="1"/>
          <p:nvPr/>
        </p:nvSpPr>
        <p:spPr>
          <a:xfrm>
            <a:off x="640080" y="886968"/>
            <a:ext cx="10972800" cy="914400"/>
          </a:xfrm>
          <a:prstGeom prst="rect">
            <a:avLst/>
          </a:prstGeom>
          <a:noFill/>
        </p:spPr>
        <p:txBody>
          <a:bodyPr wrap="square" anchor="t">
            <a:spAutoFit/>
          </a:bodyPr>
          <a:lstStyle/>
          <a:p>
            <a:pPr algn="l">
              <a:lnSpc>
                <a:spcPct val="110000"/>
              </a:lnSpc>
              <a:spcAft>
                <a:spcPts val="800"/>
              </a:spcAft>
            </a:pPr>
            <a:r>
              <a:rPr sz="3000" b="1">
                <a:solidFill>
                  <a:srgbClr val="1D446E"/>
                </a:solidFill>
                <a:latin typeface="Georgia"/>
              </a:rPr>
              <a:t>Responsibility &amp; what we can do</a:t>
            </a:r>
          </a:p>
        </p:txBody>
      </p:sp>
      <p:sp>
        <p:nvSpPr>
          <p:cNvPr id="5" name="Rectangle 4"/>
          <p:cNvSpPr/>
          <p:nvPr/>
        </p:nvSpPr>
        <p:spPr>
          <a:xfrm>
            <a:off x="658368" y="1728216"/>
            <a:ext cx="1554480" cy="41148"/>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46520"/>
            <a:ext cx="7315200" cy="320040"/>
          </a:xfrm>
          <a:prstGeom prst="rect">
            <a:avLst/>
          </a:prstGeom>
          <a:noFill/>
        </p:spPr>
        <p:txBody>
          <a:bodyPr wrap="square" anchor="t">
            <a:spAutoFit/>
          </a:bodyPr>
          <a:lstStyle/>
          <a:p>
            <a:pPr algn="l">
              <a:lnSpc>
                <a:spcPct val="110000"/>
              </a:lnSpc>
              <a:spcAft>
                <a:spcPts val="800"/>
              </a:spcAft>
            </a:pPr>
            <a:r>
              <a:rPr sz="1000" b="0">
                <a:solidFill>
                  <a:srgbClr val="7C848C"/>
                </a:solidFill>
                <a:latin typeface="Calibri"/>
              </a:rPr>
              <a:t>Consumerism &amp; Fast Fashion</a:t>
            </a:r>
          </a:p>
        </p:txBody>
      </p:sp>
      <p:sp>
        <p:nvSpPr>
          <p:cNvPr id="7" name="TextBox 6"/>
          <p:cNvSpPr txBox="1"/>
          <p:nvPr/>
        </p:nvSpPr>
        <p:spPr>
          <a:xfrm>
            <a:off x="10972800" y="6446520"/>
            <a:ext cx="822960" cy="320040"/>
          </a:xfrm>
          <a:prstGeom prst="rect">
            <a:avLst/>
          </a:prstGeom>
          <a:noFill/>
        </p:spPr>
        <p:txBody>
          <a:bodyPr wrap="square" anchor="t">
            <a:spAutoFit/>
          </a:bodyPr>
          <a:lstStyle/>
          <a:p>
            <a:pPr algn="r">
              <a:lnSpc>
                <a:spcPct val="110000"/>
              </a:lnSpc>
              <a:spcAft>
                <a:spcPts val="800"/>
              </a:spcAft>
            </a:pPr>
            <a:r>
              <a:rPr sz="1000" b="0">
                <a:solidFill>
                  <a:srgbClr val="7C848C"/>
                </a:solidFill>
                <a:latin typeface="Calibri"/>
              </a:rPr>
              <a:t>8</a:t>
            </a:r>
          </a:p>
        </p:txBody>
      </p:sp>
      <p:sp>
        <p:nvSpPr>
          <p:cNvPr id="8" name="TextBox 7"/>
          <p:cNvSpPr txBox="1"/>
          <p:nvPr/>
        </p:nvSpPr>
        <p:spPr>
          <a:xfrm>
            <a:off x="777240" y="2029967"/>
            <a:ext cx="5029200" cy="457200"/>
          </a:xfrm>
          <a:prstGeom prst="rect">
            <a:avLst/>
          </a:prstGeom>
          <a:noFill/>
        </p:spPr>
        <p:txBody>
          <a:bodyPr wrap="square" anchor="t">
            <a:spAutoFit/>
          </a:bodyPr>
          <a:lstStyle/>
          <a:p>
            <a:pPr algn="l">
              <a:lnSpc>
                <a:spcPct val="110000"/>
              </a:lnSpc>
              <a:spcAft>
                <a:spcPts val="800"/>
              </a:spcAft>
            </a:pPr>
            <a:r>
              <a:rPr sz="1900" b="1">
                <a:solidFill>
                  <a:srgbClr val="1D446E"/>
                </a:solidFill>
                <a:latin typeface="Georgia"/>
              </a:rPr>
              <a:t>How much responsibility?</a:t>
            </a:r>
          </a:p>
        </p:txBody>
      </p:sp>
      <p:sp>
        <p:nvSpPr>
          <p:cNvPr id="9" name="Rectangle 8"/>
          <p:cNvSpPr/>
          <p:nvPr/>
        </p:nvSpPr>
        <p:spPr>
          <a:xfrm>
            <a:off x="795528" y="2487168"/>
            <a:ext cx="822960" cy="36576"/>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88335"/>
            <a:ext cx="5029200" cy="3291840"/>
          </a:xfrm>
          <a:prstGeom prst="rect">
            <a:avLst/>
          </a:prstGeom>
          <a:noFill/>
        </p:spPr>
        <p:txBody>
          <a:bodyPr wrap="square" anchor="t">
            <a:spAutoFit/>
          </a:bodyPr>
          <a:lstStyle/>
          <a:p>
            <a:pPr algn="l">
              <a:lnSpc>
                <a:spcPct val="112000"/>
              </a:lnSpc>
              <a:spcAft>
                <a:spcPts val="900"/>
              </a:spcAft>
            </a:pPr>
            <a:r>
              <a:rPr sz="1300" b="1">
                <a:solidFill>
                  <a:srgbClr val="2F6FB0"/>
                </a:solidFill>
                <a:latin typeface="Calibri"/>
              </a:rPr>
              <a:t>▸  </a:t>
            </a:r>
            <a:r>
              <a:rPr sz="1600" b="0">
                <a:solidFill>
                  <a:srgbClr val="2A2E33"/>
                </a:solidFill>
                <a:latin typeface="Calibri"/>
              </a:rPr>
              <a:t>Shared – consumers create the demand</a:t>
            </a:r>
          </a:p>
          <a:p>
            <a:pPr algn="l">
              <a:lnSpc>
                <a:spcPct val="112000"/>
              </a:lnSpc>
              <a:spcAft>
                <a:spcPts val="900"/>
              </a:spcAft>
            </a:pPr>
            <a:r>
              <a:rPr sz="1300" b="1">
                <a:solidFill>
                  <a:srgbClr val="2F6FB0"/>
                </a:solidFill>
                <a:latin typeface="Calibri"/>
              </a:rPr>
              <a:t>▸  </a:t>
            </a:r>
            <a:r>
              <a:rPr sz="1600" b="0">
                <a:solidFill>
                  <a:srgbClr val="2A2E33"/>
                </a:solidFill>
                <a:latin typeface="Calibri"/>
              </a:rPr>
              <a:t>But firms &amp; governments hold more power &amp; information</a:t>
            </a:r>
          </a:p>
          <a:p>
            <a:pPr algn="l">
              <a:lnSpc>
                <a:spcPct val="112000"/>
              </a:lnSpc>
              <a:spcAft>
                <a:spcPts val="900"/>
              </a:spcAft>
            </a:pPr>
            <a:r>
              <a:rPr sz="1300" b="1">
                <a:solidFill>
                  <a:srgbClr val="2F6FB0"/>
                </a:solidFill>
                <a:latin typeface="Calibri"/>
              </a:rPr>
              <a:t>▸  </a:t>
            </a:r>
            <a:r>
              <a:rPr sz="1600" b="0">
                <a:solidFill>
                  <a:srgbClr val="2A2E33"/>
                </a:solidFill>
                <a:latin typeface="Calibri"/>
              </a:rPr>
              <a:t>Fairness: not everyone can afford ethical options</a:t>
            </a:r>
          </a:p>
          <a:p>
            <a:pPr algn="l">
              <a:lnSpc>
                <a:spcPct val="112000"/>
              </a:lnSpc>
              <a:spcAft>
                <a:spcPts val="900"/>
              </a:spcAft>
            </a:pPr>
            <a:r>
              <a:rPr sz="1300" b="1">
                <a:solidFill>
                  <a:srgbClr val="2F6FB0"/>
                </a:solidFill>
                <a:latin typeface="Calibri"/>
              </a:rPr>
              <a:t>▸  </a:t>
            </a:r>
            <a:r>
              <a:rPr sz="1600" b="0">
                <a:solidFill>
                  <a:srgbClr val="2A2E33"/>
                </a:solidFill>
                <a:latin typeface="Calibri"/>
              </a:rPr>
              <a:t>Still, we ‘vote with our wallets’</a:t>
            </a:r>
          </a:p>
        </p:txBody>
      </p:sp>
      <p:sp>
        <p:nvSpPr>
          <p:cNvPr id="11" name="TextBox 10"/>
          <p:cNvSpPr txBox="1"/>
          <p:nvPr/>
        </p:nvSpPr>
        <p:spPr>
          <a:xfrm>
            <a:off x="6355080" y="2029967"/>
            <a:ext cx="5029200" cy="457200"/>
          </a:xfrm>
          <a:prstGeom prst="rect">
            <a:avLst/>
          </a:prstGeom>
          <a:noFill/>
        </p:spPr>
        <p:txBody>
          <a:bodyPr wrap="square" anchor="t">
            <a:spAutoFit/>
          </a:bodyPr>
          <a:lstStyle/>
          <a:p>
            <a:pPr algn="l">
              <a:lnSpc>
                <a:spcPct val="110000"/>
              </a:lnSpc>
              <a:spcAft>
                <a:spcPts val="800"/>
              </a:spcAft>
            </a:pPr>
            <a:r>
              <a:rPr sz="1900" b="1">
                <a:solidFill>
                  <a:srgbClr val="1D446E"/>
                </a:solidFill>
                <a:latin typeface="Georgia"/>
              </a:rPr>
              <a:t>What we can do</a:t>
            </a:r>
          </a:p>
        </p:txBody>
      </p:sp>
      <p:sp>
        <p:nvSpPr>
          <p:cNvPr id="12" name="Rectangle 11"/>
          <p:cNvSpPr/>
          <p:nvPr/>
        </p:nvSpPr>
        <p:spPr>
          <a:xfrm>
            <a:off x="6373368" y="2487168"/>
            <a:ext cx="822960" cy="36576"/>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88335"/>
            <a:ext cx="5029200" cy="3291840"/>
          </a:xfrm>
          <a:prstGeom prst="rect">
            <a:avLst/>
          </a:prstGeom>
          <a:noFill/>
        </p:spPr>
        <p:txBody>
          <a:bodyPr wrap="square" anchor="t">
            <a:spAutoFit/>
          </a:bodyPr>
          <a:lstStyle/>
          <a:p>
            <a:pPr algn="l">
              <a:lnSpc>
                <a:spcPct val="112000"/>
              </a:lnSpc>
              <a:spcAft>
                <a:spcPts val="900"/>
              </a:spcAft>
            </a:pPr>
            <a:r>
              <a:rPr sz="1300" b="1">
                <a:solidFill>
                  <a:srgbClr val="2F6FB0"/>
                </a:solidFill>
                <a:latin typeface="Calibri"/>
              </a:rPr>
              <a:t>▸  </a:t>
            </a:r>
            <a:r>
              <a:rPr sz="1600" b="0">
                <a:solidFill>
                  <a:srgbClr val="2A2E33"/>
                </a:solidFill>
                <a:latin typeface="Calibri"/>
              </a:rPr>
              <a:t>Buy less, buy better (cost-per-wear)</a:t>
            </a:r>
          </a:p>
          <a:p>
            <a:pPr algn="l">
              <a:lnSpc>
                <a:spcPct val="112000"/>
              </a:lnSpc>
              <a:spcAft>
                <a:spcPts val="900"/>
              </a:spcAft>
            </a:pPr>
            <a:r>
              <a:rPr sz="1300" b="1">
                <a:solidFill>
                  <a:srgbClr val="2F6FB0"/>
                </a:solidFill>
                <a:latin typeface="Calibri"/>
              </a:rPr>
              <a:t>▸  </a:t>
            </a:r>
            <a:r>
              <a:rPr sz="1600" b="0">
                <a:solidFill>
                  <a:srgbClr val="2A2E33"/>
                </a:solidFill>
                <a:latin typeface="Calibri"/>
              </a:rPr>
              <a:t>Second-hand, swap, repair &amp; care</a:t>
            </a:r>
          </a:p>
          <a:p>
            <a:pPr algn="l">
              <a:lnSpc>
                <a:spcPct val="112000"/>
              </a:lnSpc>
              <a:spcAft>
                <a:spcPts val="900"/>
              </a:spcAft>
            </a:pPr>
            <a:r>
              <a:rPr sz="1300" b="1">
                <a:solidFill>
                  <a:srgbClr val="2F6FB0"/>
                </a:solidFill>
                <a:latin typeface="Calibri"/>
              </a:rPr>
              <a:t>▸  </a:t>
            </a:r>
            <a:r>
              <a:rPr sz="1600" b="0">
                <a:solidFill>
                  <a:srgbClr val="2A2E33"/>
                </a:solidFill>
                <a:latin typeface="Calibri"/>
              </a:rPr>
              <a:t>Support ethical brands; demand transparency</a:t>
            </a:r>
          </a:p>
          <a:p>
            <a:pPr algn="l">
              <a:lnSpc>
                <a:spcPct val="112000"/>
              </a:lnSpc>
              <a:spcAft>
                <a:spcPts val="900"/>
              </a:spcAft>
            </a:pPr>
            <a:r>
              <a:rPr sz="1300" b="1">
                <a:solidFill>
                  <a:srgbClr val="2F6FB0"/>
                </a:solidFill>
                <a:latin typeface="Calibri"/>
              </a:rPr>
              <a:t>▸  </a:t>
            </a:r>
            <a:r>
              <a:rPr sz="1600" b="0">
                <a:solidFill>
                  <a:srgbClr val="2A2E33"/>
                </a:solidFill>
                <a:latin typeface="Calibri"/>
              </a:rPr>
              <a:t>Recycle &amp; donate → ‘slow fashion’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D4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789920" cy="365760"/>
          </a:xfrm>
          <a:prstGeom prst="rect">
            <a:avLst/>
          </a:prstGeom>
          <a:noFill/>
        </p:spPr>
        <p:txBody>
          <a:bodyPr wrap="square" anchor="t">
            <a:spAutoFit/>
          </a:bodyPr>
          <a:lstStyle/>
          <a:p>
            <a:pPr algn="l">
              <a:lnSpc>
                <a:spcPct val="110000"/>
              </a:lnSpc>
              <a:spcAft>
                <a:spcPts val="800"/>
              </a:spcAft>
            </a:pPr>
            <a:r>
              <a:rPr sz="1300" b="1">
                <a:solidFill>
                  <a:srgbClr val="2F6FB0"/>
                </a:solidFill>
                <a:latin typeface="Calibri"/>
              </a:rPr>
              <a:t>WRAP-UP</a:t>
            </a:r>
          </a:p>
        </p:txBody>
      </p:sp>
      <p:sp>
        <p:nvSpPr>
          <p:cNvPr id="4" name="TextBox 3"/>
          <p:cNvSpPr txBox="1"/>
          <p:nvPr/>
        </p:nvSpPr>
        <p:spPr>
          <a:xfrm>
            <a:off x="640080" y="886968"/>
            <a:ext cx="10972800" cy="914400"/>
          </a:xfrm>
          <a:prstGeom prst="rect">
            <a:avLst/>
          </a:prstGeom>
          <a:noFill/>
        </p:spPr>
        <p:txBody>
          <a:bodyPr wrap="square" anchor="t">
            <a:spAutoFit/>
          </a:bodyPr>
          <a:lstStyle/>
          <a:p>
            <a:pPr algn="l">
              <a:lnSpc>
                <a:spcPct val="110000"/>
              </a:lnSpc>
              <a:spcAft>
                <a:spcPts val="800"/>
              </a:spcAft>
            </a:pPr>
            <a:r>
              <a:rPr sz="3000" b="1">
                <a:solidFill>
                  <a:srgbClr val="1D446E"/>
                </a:solidFill>
                <a:latin typeface="Georgia"/>
              </a:rPr>
              <a:t>Conclusion</a:t>
            </a:r>
          </a:p>
        </p:txBody>
      </p:sp>
      <p:sp>
        <p:nvSpPr>
          <p:cNvPr id="5" name="Rectangle 4"/>
          <p:cNvSpPr/>
          <p:nvPr/>
        </p:nvSpPr>
        <p:spPr>
          <a:xfrm>
            <a:off x="658368" y="1728216"/>
            <a:ext cx="1554480" cy="41148"/>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46520"/>
            <a:ext cx="7315200" cy="320040"/>
          </a:xfrm>
          <a:prstGeom prst="rect">
            <a:avLst/>
          </a:prstGeom>
          <a:noFill/>
        </p:spPr>
        <p:txBody>
          <a:bodyPr wrap="square" anchor="t">
            <a:spAutoFit/>
          </a:bodyPr>
          <a:lstStyle/>
          <a:p>
            <a:pPr algn="l">
              <a:lnSpc>
                <a:spcPct val="110000"/>
              </a:lnSpc>
              <a:spcAft>
                <a:spcPts val="800"/>
              </a:spcAft>
            </a:pPr>
            <a:r>
              <a:rPr sz="1000" b="0">
                <a:solidFill>
                  <a:srgbClr val="7C848C"/>
                </a:solidFill>
                <a:latin typeface="Calibri"/>
              </a:rPr>
              <a:t>Consumerism &amp; Fast Fashion</a:t>
            </a:r>
          </a:p>
        </p:txBody>
      </p:sp>
      <p:sp>
        <p:nvSpPr>
          <p:cNvPr id="7" name="TextBox 6"/>
          <p:cNvSpPr txBox="1"/>
          <p:nvPr/>
        </p:nvSpPr>
        <p:spPr>
          <a:xfrm>
            <a:off x="10972800" y="6446520"/>
            <a:ext cx="822960" cy="320040"/>
          </a:xfrm>
          <a:prstGeom prst="rect">
            <a:avLst/>
          </a:prstGeom>
          <a:noFill/>
        </p:spPr>
        <p:txBody>
          <a:bodyPr wrap="square" anchor="t">
            <a:spAutoFit/>
          </a:bodyPr>
          <a:lstStyle/>
          <a:p>
            <a:pPr algn="r">
              <a:lnSpc>
                <a:spcPct val="110000"/>
              </a:lnSpc>
              <a:spcAft>
                <a:spcPts val="800"/>
              </a:spcAft>
            </a:pPr>
            <a:r>
              <a:rPr sz="1000" b="0">
                <a:solidFill>
                  <a:srgbClr val="7C848C"/>
                </a:solidFill>
                <a:latin typeface="Calibri"/>
              </a:rPr>
              <a:t>9</a:t>
            </a:r>
          </a:p>
        </p:txBody>
      </p:sp>
      <p:sp>
        <p:nvSpPr>
          <p:cNvPr id="8" name="TextBox 7"/>
          <p:cNvSpPr txBox="1"/>
          <p:nvPr/>
        </p:nvSpPr>
        <p:spPr>
          <a:xfrm>
            <a:off x="868680" y="2029967"/>
            <a:ext cx="10607040" cy="4023360"/>
          </a:xfrm>
          <a:prstGeom prst="rect">
            <a:avLst/>
          </a:prstGeom>
          <a:noFill/>
        </p:spPr>
        <p:txBody>
          <a:bodyPr wrap="square" anchor="t">
            <a:spAutoFit/>
          </a:bodyPr>
          <a:lstStyle/>
          <a:p>
            <a:pPr algn="l">
              <a:lnSpc>
                <a:spcPct val="114000"/>
              </a:lnSpc>
              <a:spcAft>
                <a:spcPts val="1200"/>
              </a:spcAft>
            </a:pPr>
            <a:r>
              <a:rPr sz="1600" b="1">
                <a:solidFill>
                  <a:srgbClr val="2F6FB0"/>
                </a:solidFill>
                <a:latin typeface="Calibri"/>
              </a:rPr>
              <a:t>▸  </a:t>
            </a:r>
            <a:r>
              <a:rPr sz="1900" b="0">
                <a:solidFill>
                  <a:srgbClr val="2A2E33"/>
                </a:solidFill>
                <a:latin typeface="Calibri"/>
              </a:rPr>
              <a:t>Fast fashion is a clear product of consumerism &amp; materialism</a:t>
            </a:r>
          </a:p>
          <a:p>
            <a:pPr algn="l">
              <a:lnSpc>
                <a:spcPct val="114000"/>
              </a:lnSpc>
              <a:spcAft>
                <a:spcPts val="1200"/>
              </a:spcAft>
            </a:pPr>
            <a:r>
              <a:rPr sz="1600" b="1">
                <a:solidFill>
                  <a:srgbClr val="2F6FB0"/>
                </a:solidFill>
                <a:latin typeface="Calibri"/>
              </a:rPr>
              <a:t>▸  </a:t>
            </a:r>
            <a:r>
              <a:rPr sz="1900" b="0">
                <a:solidFill>
                  <a:srgbClr val="2A2E33"/>
                </a:solidFill>
                <a:latin typeface="Calibri"/>
              </a:rPr>
              <a:t>Earth.org uses logos + pathos on a base of institutional ethos to expose the hidden cost</a:t>
            </a:r>
          </a:p>
          <a:p>
            <a:pPr algn="l">
              <a:lnSpc>
                <a:spcPct val="114000"/>
              </a:lnSpc>
              <a:spcAft>
                <a:spcPts val="1200"/>
              </a:spcAft>
            </a:pPr>
            <a:r>
              <a:rPr sz="1600" b="1">
                <a:solidFill>
                  <a:srgbClr val="2F6FB0"/>
                </a:solidFill>
                <a:latin typeface="Calibri"/>
              </a:rPr>
              <a:t>▸  </a:t>
            </a:r>
            <a:r>
              <a:rPr sz="1900" b="0">
                <a:solidFill>
                  <a:srgbClr val="2A2E33"/>
                </a:solidFill>
                <a:latin typeface="Calibri"/>
              </a:rPr>
              <a:t>Responsibility is shared – but small changes, by many, add up</a:t>
            </a:r>
          </a:p>
        </p:txBody>
      </p:sp>
      <p:sp>
        <p:nvSpPr>
          <p:cNvPr id="9" name="TextBox 8"/>
          <p:cNvSpPr txBox="1"/>
          <p:nvPr/>
        </p:nvSpPr>
        <p:spPr>
          <a:xfrm>
            <a:off x="868680" y="5166360"/>
            <a:ext cx="10607040" cy="274320"/>
          </a:xfrm>
          <a:prstGeom prst="rect">
            <a:avLst/>
          </a:prstGeom>
          <a:noFill/>
        </p:spPr>
        <p:txBody>
          <a:bodyPr wrap="square" anchor="t">
            <a:spAutoFit/>
          </a:bodyPr>
          <a:lstStyle/>
          <a:p>
            <a:pPr algn="l">
              <a:lnSpc>
                <a:spcPct val="110000"/>
              </a:lnSpc>
              <a:spcAft>
                <a:spcPts val="800"/>
              </a:spcAft>
            </a:pPr>
            <a:r>
              <a:rPr sz="1100" b="1">
                <a:solidFill>
                  <a:srgbClr val="2F6FB0"/>
                </a:solidFill>
                <a:latin typeface="Calibri"/>
              </a:rPr>
              <a:t>SOURCES</a:t>
            </a:r>
          </a:p>
        </p:txBody>
      </p:sp>
      <p:sp>
        <p:nvSpPr>
          <p:cNvPr id="10" name="TextBox 9"/>
          <p:cNvSpPr txBox="1"/>
          <p:nvPr/>
        </p:nvSpPr>
        <p:spPr>
          <a:xfrm>
            <a:off x="868680" y="5486400"/>
            <a:ext cx="10607040" cy="914400"/>
          </a:xfrm>
          <a:prstGeom prst="rect">
            <a:avLst/>
          </a:prstGeom>
          <a:noFill/>
        </p:spPr>
        <p:txBody>
          <a:bodyPr wrap="square" anchor="t">
            <a:spAutoFit/>
          </a:bodyPr>
          <a:lstStyle/>
          <a:p>
            <a:pPr algn="l">
              <a:lnSpc>
                <a:spcPct val="110000"/>
              </a:lnSpc>
              <a:spcAft>
                <a:spcPts val="200"/>
              </a:spcAft>
            </a:pPr>
            <a:r>
              <a:rPr sz="1200" b="0">
                <a:solidFill>
                  <a:srgbClr val="7C848C"/>
                </a:solidFill>
                <a:latin typeface="Calibri"/>
              </a:rPr>
              <a:t>Earth.org, “Fast Fashion: The Danger of Sweatshops” – earth.org/sweatshops/</a:t>
            </a:r>
          </a:p>
          <a:p>
            <a:pPr algn="l">
              <a:lnSpc>
                <a:spcPct val="110000"/>
              </a:lnSpc>
              <a:spcAft>
                <a:spcPts val="200"/>
              </a:spcAft>
            </a:pPr>
            <a:r>
              <a:rPr sz="1200" b="0">
                <a:solidFill>
                  <a:srgbClr val="7C848C"/>
                </a:solidFill>
                <a:latin typeface="Calibri"/>
              </a:rPr>
              <a:t>“The Greening of Throwaway Stuff”, BusinessLike, Systime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AF1FA"/>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1D4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468880"/>
            <a:ext cx="10332720" cy="1463040"/>
          </a:xfrm>
          <a:prstGeom prst="rect">
            <a:avLst/>
          </a:prstGeom>
          <a:noFill/>
        </p:spPr>
        <p:txBody>
          <a:bodyPr wrap="square" anchor="t">
            <a:spAutoFit/>
          </a:bodyPr>
          <a:lstStyle/>
          <a:p>
            <a:pPr algn="l">
              <a:lnSpc>
                <a:spcPct val="110000"/>
              </a:lnSpc>
              <a:spcAft>
                <a:spcPts val="800"/>
              </a:spcAft>
            </a:pPr>
            <a:r>
              <a:rPr sz="5400" b="1">
                <a:solidFill>
                  <a:srgbClr val="1D446E"/>
                </a:solidFill>
                <a:latin typeface="Georgia"/>
              </a:rPr>
              <a:t>Thank you</a:t>
            </a:r>
          </a:p>
        </p:txBody>
      </p:sp>
      <p:sp>
        <p:nvSpPr>
          <p:cNvPr id="4" name="Rectangle 3"/>
          <p:cNvSpPr/>
          <p:nvPr/>
        </p:nvSpPr>
        <p:spPr>
          <a:xfrm>
            <a:off x="960120" y="3977639"/>
            <a:ext cx="2194560" cy="54864"/>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206240"/>
            <a:ext cx="10058400" cy="731520"/>
          </a:xfrm>
          <a:prstGeom prst="rect">
            <a:avLst/>
          </a:prstGeom>
          <a:noFill/>
        </p:spPr>
        <p:txBody>
          <a:bodyPr wrap="square" anchor="t">
            <a:spAutoFit/>
          </a:bodyPr>
          <a:lstStyle/>
          <a:p>
            <a:pPr algn="l">
              <a:lnSpc>
                <a:spcPct val="110000"/>
              </a:lnSpc>
              <a:spcAft>
                <a:spcPts val="800"/>
              </a:spcAft>
            </a:pPr>
            <a:r>
              <a:rPr sz="2600" b="0">
                <a:solidFill>
                  <a:srgbClr val="444C55"/>
                </a:solidFill>
                <a:latin typeface="Georgia"/>
              </a:rPr>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