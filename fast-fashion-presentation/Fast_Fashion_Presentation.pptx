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and welcome to our presentation on consumerism and fast fashion. We are [Name] and [Name]. Today we will look at the hidden cost behind the cheap clothes that many of us buy. We base our discussion on two texts: the Earth.org article 'Fast Fashion: The Danger of Sweatshops' and the chapter 'The Greening of Throwaway Stuff' from the textbook BusinessLike. Let's start with an overview of what we will cover.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agenda. First we will define three key terms – consumerism, materialism and fast fashion. Then we briefly introduce our two texts, before we move on to the main part: a rhetorical analysis of the Earth.org article using the rhetorical pentagram. After that we look at the modes of persuasion and other rhetorical devices, and comment on the message and intention of the article. Finally we discuss the pros and cons of fast fashion, the question of consumer responsibility, and what we can actually do – before we round off with 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two texts approach the same problem from different angles. 'Fast Fashion: The Danger of Sweatshops' is published by Earth.org, an environmental organisation and news site, and it focuses on the human and environmental cost of cheap clothing. 'The Greening of Throwaway Stuff' from BusinessLike looks more broadly at our throwaway culture and how consumer society might become greener and more sustainable. Together they give us both a concrete case and a wider perspective on overconsumption.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analyse, let's define three terms. Consumerism is a social and economic order that encourages people to buy more and more goods – a society where consumption is seen as a path to happiness and status. Materialism is the individual mindset behind it: the belief that owning things and money matter more than, for example, relationships or experiences. Fast fashion is a concrete result of both: cheap, mass-produced clothing that copies catwalk trends at high speed and is designed to be bought and thrown away quickly – think Shein, H&amp;M, Zara and Primark. So there is a chain here: consumerism is the society, materialism is the mindset, and fast fashion is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analyse the Earth.org article we use the rhetorical pentagram. The pentagram is a model of the communication situation, made up of five points that all influence each other: the sender, the receiver, the topic or subject, the language, and the circumstances or context. The key idea is that these five are connected – if you change one, the others change too. For example, who the sender is affects what language they use and how the receiver reacts. We will now go through all five points one by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sender. The article comes from Earth.org, which is an environmental, non-profit news and data organisation. That is an important point: the sender is an institution, not a single famous journalist. This gives the article a kind of 'expert organisation' ethos – it appears authoritative and well-researched. But we should also notice that Earth.org is mission-driven: its purpose is environmental advocacy and education. So the sender is not neutral – it has a clear agenda, and it builds its credibility through data, surveys and a serious, factual tone. If a specific author is shown on the page, mention their name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the receiver. The article is aimed primarily at environmentally conscious, educated readers – students, younger people, and the kind of consumers who actually buy fast fashion in the Western world. These are people who are open to changing their habits, or at least curious about the issue. The article addresses them as both rational beings – through facts and statistics – and as moral beings – through its focus on suffering and injustice. There is a slight risk of 'preaching to the choir' here, since the people most likely to read an Earth.org article may already agree.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the topic or subject. The article is about the human and environmental cost of fast-fashion sweatshops. On the human side, it describes exploitation: poverty wages, child labour, and unsafe factories – the clearest example being the Rana Plaza collapse in Bangladesh in 2013, where over a thousand garment workers died. On the environmental side, it points to enormous waste: between 80 and 100 billion new garments are made every year, and a truckload of clothing is burned or sent to landfill every single second. The core idea is that there is a 'true price' hidden behind the cheap price tag.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the language. The article is written in formal but accessible English – academic, but easy enough for a general reader. The word choices are often emotive and loaded: words like 'grueling', 'cruel', 'inhumane' and 'exploited'. At the same time, the text leans heavily on facts, figures and surveys, which gives it an objective register. So the language is a deliberate blend of the factual and the emotional – and that combination is exactly what makes it persuasive.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Fifth, the circumstances or context. The article is written in the middle of a global climate and sustainability debate, and at a time when ultra-fast-fashion brands like Shein are booming. It also builds on a public awareness of garment-worker safety that grew after disasters like Rana Plaza. The fact that it is published online matters too: it is free, easily shareable, reaches a global audience, and can link directly to its sources. It is part of Earth.org's wider campaign of environmental journalism. As you can see, all five points connect – the green sender, the concerned receiver, the alarming topic, the emotive-but-factual language, and the climate-crisis context all reinforce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modes of persuasion – ethos, logos and pathos. The article uses ethos through the authority of Earth.org as an environmental organisation, and through its sober, well-sourced tone. It uses logos through statistics and cause-and-effect reasoning – for example, that sixty percent of workers in surveyed Indian mills were under eighteen, that minimum wages cover only a fifth to a half of what a family needs, and the more than a thousand deaths at Rana Plaza. And it uses pathos through emotive language and its focus on women and children suffering in cruel conditions. The strongest effect comes from combining logos and pathos: the numbers make us think, and the human stories make us feel.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three appeals, the article uses several other rhetorical devices. There is loaded, connotative language that creates a sense of guilt and moral responsibility. There is vivid imagery and almost hyperbolic framing – like 'a truckload of clothes burned every second' – which makes an abstract problem feel concrete and urgent. There is contrast or juxtaposition between our cheap, disposable clothes and the high human cost behind them. And there is a consistent use of authority and evidence – surveys and named events – to back up the emotional appeal.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the message and intention? The message is that the low price of fast fashion is actually paid by exploited workers and a damaged planet – the real cost is hidden from the consumer. The intention is twofold: to inform and to persuade. Earth.org wants to raise awareness, but it also wants to change behaviour – it is essentially a call to action to rethink how we consume. So the article educates us with logos and moves us with pathos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assignment asks us to consider the language between the sender and the receiver – does it match? For the most part, yes. An environmental organisation writing for informed, value-driven readers uses exactly the register we would expect: formal but accessible, mixing hard data with emotional appeal. That fits an audience that is both rational and morally engaged. The one small mismatch is that the very emotive vocabulary could feel one-sided to a more sceptical reader – but since the likely audience already cares about the environment, the language and the receiver are well matched overall.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discuss fast fashion more broadly, starting with the pros – because it is not only negative. Fast fashion is affordable and accessible: it lets people on low incomes follow trends and express themselves through clothes. It also creates jobs and income in developing countries, where those jobs may be among the few available. And it is fast, varied and responsive to trends, which drives a lot of economic activity. We have to be fair and acknowledge these benefits before we judge.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 cons are serious. First, labour exploitation – poverty wages, child labour and unsafe factories, as the Earth.org article documents. Second, environmental harm – water pollution from dyeing, huge amounts of textile waste, CO2 emissions and microplastics. Third, it fuels a throwaway culture and overconsumption, and the clothes are often poor quality, so they do not last. And finally, many brands engage in greenwashing – pretending to be sustainable without really changing. So the cheap price hides a very high cost.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a key question: how much responsibility does the consumer have? Our view is that responsibility is shared. On one hand, consumers create the demand that drives the whole system. On the other hand, big corporations and governments hold far more structural power and far more information than the individual shopper. It is also a question of fairness: not everyone can afford ethical alternatives, so we should not put all the blame on the individual. Still, consumer choices matter – when enough people change what they buy, companies have to follow. We do 'vote with our wallets'.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can we actually do as consumers? The simplest principle is: buy less, but buy better – choose quality over quantity and think about cost-per-wear. We can buy second-hand, swap clothes, or thrift, and we can repair and care for the clothes we already own to make them last. We can support ethical and sustainable brands and demand transparency about how clothes are made. And we can recycle, donate, and support legislation that protects workers and the environment. All of this is part of what is called 'slow fashion' – the opposite of the fast, throwaway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fast fashion is a clear product of consumerism and materialism – our society's drive to keep buying, and our personal attachment to owning more. In its article, Earth.org uses a strong combination of logos and pathos, backed by solid institutional ethos, to expose the hidden human and environmental cost behind cheap clothing. And while responsibility is shared between consumers, companies and governments, we as consumers are not powerless – small changes, made by many people, really do add up.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sources.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We are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D3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554480"/>
            <a:ext cx="10058400" cy="457200"/>
          </a:xfrm>
          <a:prstGeom prst="rect">
            <a:avLst/>
          </a:prstGeom>
          <a:noFill/>
        </p:spPr>
        <p:txBody>
          <a:bodyPr wrap="square" anchor="t">
            <a:spAutoFit/>
          </a:bodyPr>
          <a:lstStyle/>
          <a:p>
            <a:pPr algn="l">
              <a:lnSpc>
                <a:spcPct val="110000"/>
              </a:lnSpc>
              <a:spcAft>
                <a:spcPts val="800"/>
              </a:spcAft>
            </a:pPr>
            <a:r>
              <a:rPr sz="1600" b="1">
                <a:solidFill>
                  <a:srgbClr val="D8C9A8"/>
                </a:solidFill>
                <a:latin typeface="Calibri"/>
              </a:rPr>
              <a:t>GROUP PRESENTATION</a:t>
            </a:r>
          </a:p>
        </p:txBody>
      </p:sp>
      <p:sp>
        <p:nvSpPr>
          <p:cNvPr id="4" name="TextBox 3"/>
          <p:cNvSpPr txBox="1"/>
          <p:nvPr/>
        </p:nvSpPr>
        <p:spPr>
          <a:xfrm>
            <a:off x="914400" y="2103120"/>
            <a:ext cx="10332720" cy="1645920"/>
          </a:xfrm>
          <a:prstGeom prst="rect">
            <a:avLst/>
          </a:prstGeom>
          <a:noFill/>
        </p:spPr>
        <p:txBody>
          <a:bodyPr wrap="square" anchor="t">
            <a:spAutoFit/>
          </a:bodyPr>
          <a:lstStyle/>
          <a:p>
            <a:pPr algn="l">
              <a:lnSpc>
                <a:spcPct val="110000"/>
              </a:lnSpc>
              <a:spcAft>
                <a:spcPts val="800"/>
              </a:spcAft>
            </a:pPr>
            <a:r>
              <a:rPr sz="5000" b="1">
                <a:solidFill>
                  <a:srgbClr val="FFFFFF"/>
                </a:solidFill>
                <a:latin typeface="Georgia"/>
              </a:rPr>
              <a:t>Consumerism &amp; Fast Fashion</a:t>
            </a:r>
          </a:p>
        </p:txBody>
      </p:sp>
      <p:sp>
        <p:nvSpPr>
          <p:cNvPr id="5" name="Rectangle 4"/>
          <p:cNvSpPr/>
          <p:nvPr/>
        </p:nvSpPr>
        <p:spPr>
          <a:xfrm>
            <a:off x="960120" y="3611880"/>
            <a:ext cx="2194560" cy="54864"/>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794760"/>
            <a:ext cx="10058400" cy="640080"/>
          </a:xfrm>
          <a:prstGeom prst="rect">
            <a:avLst/>
          </a:prstGeom>
          <a:noFill/>
        </p:spPr>
        <p:txBody>
          <a:bodyPr wrap="square" anchor="t">
            <a:spAutoFit/>
          </a:bodyPr>
          <a:lstStyle/>
          <a:p>
            <a:pPr algn="l">
              <a:lnSpc>
                <a:spcPct val="110000"/>
              </a:lnSpc>
              <a:spcAft>
                <a:spcPts val="800"/>
              </a:spcAft>
            </a:pPr>
            <a:r>
              <a:rPr sz="2400" b="0">
                <a:solidFill>
                  <a:srgbClr val="CFDED4"/>
                </a:solidFill>
                <a:latin typeface="Georgia"/>
              </a:rPr>
              <a:t>The hidden cost of cheap clothes</a:t>
            </a:r>
          </a:p>
        </p:txBody>
      </p:sp>
      <p:sp>
        <p:nvSpPr>
          <p:cNvPr id="7" name="TextBox 6"/>
          <p:cNvSpPr txBox="1"/>
          <p:nvPr/>
        </p:nvSpPr>
        <p:spPr>
          <a:xfrm>
            <a:off x="914400" y="5029200"/>
            <a:ext cx="10058400" cy="1463040"/>
          </a:xfrm>
          <a:prstGeom prst="rect">
            <a:avLst/>
          </a:prstGeom>
          <a:noFill/>
        </p:spPr>
        <p:txBody>
          <a:bodyPr wrap="square" anchor="t">
            <a:spAutoFit/>
          </a:bodyPr>
          <a:lstStyle/>
          <a:p>
            <a:pPr algn="l">
              <a:lnSpc>
                <a:spcPct val="120000"/>
              </a:lnSpc>
              <a:spcAft>
                <a:spcPts val="400"/>
              </a:spcAft>
            </a:pPr>
            <a:r>
              <a:rPr sz="1500" b="0">
                <a:solidFill>
                  <a:srgbClr val="B9CBC0"/>
                </a:solidFill>
                <a:latin typeface="Calibri"/>
              </a:rPr>
              <a:t>English – Group Presentation (makkerskab)</a:t>
            </a:r>
          </a:p>
          <a:p>
            <a:pPr algn="l">
              <a:lnSpc>
                <a:spcPct val="120000"/>
              </a:lnSpc>
              <a:spcAft>
                <a:spcPts val="400"/>
              </a:spcAft>
            </a:pPr>
            <a:r>
              <a:rPr sz="1500" b="0">
                <a:solidFill>
                  <a:srgbClr val="B9CBC0"/>
                </a:solidFill>
                <a:latin typeface="Calibri"/>
              </a:rPr>
              <a:t>By: [Your name] &amp; [Your name]</a:t>
            </a:r>
          </a:p>
          <a:p>
            <a:pPr algn="l">
              <a:lnSpc>
                <a:spcPct val="120000"/>
              </a:lnSpc>
              <a:spcAft>
                <a:spcPts val="400"/>
              </a:spcAft>
            </a:pPr>
            <a:r>
              <a:rPr sz="1500" b="0">
                <a:solidFill>
                  <a:srgbClr val="B9CBC0"/>
                </a:solidFill>
                <a:latin typeface="Calibri"/>
              </a:rPr>
              <a:t>Deadline: 24/05-2026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OVERVIEW</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Agenda</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Key terms: consumerism, materialism &amp; fast fashion</a:t>
            </a:r>
          </a:p>
          <a:p>
            <a:pPr algn="l">
              <a:lnSpc>
                <a:spcPct val="112000"/>
              </a:lnSpc>
              <a:spcAft>
                <a:spcPts val="1000"/>
              </a:spcAft>
            </a:pPr>
            <a:r>
              <a:rPr sz="1600" b="1">
                <a:solidFill>
                  <a:srgbClr val="C06A3C"/>
                </a:solidFill>
                <a:latin typeface="Calibri"/>
              </a:rPr>
              <a:t>▸  </a:t>
            </a:r>
            <a:r>
              <a:rPr sz="1900" b="0">
                <a:solidFill>
                  <a:srgbClr val="222A26"/>
                </a:solidFill>
                <a:latin typeface="Calibri"/>
              </a:rPr>
              <a:t>Our two texts</a:t>
            </a:r>
          </a:p>
          <a:p>
            <a:pPr algn="l">
              <a:lnSpc>
                <a:spcPct val="112000"/>
              </a:lnSpc>
              <a:spcAft>
                <a:spcPts val="1000"/>
              </a:spcAft>
            </a:pPr>
            <a:r>
              <a:rPr sz="1600" b="1">
                <a:solidFill>
                  <a:srgbClr val="C06A3C"/>
                </a:solidFill>
                <a:latin typeface="Calibri"/>
              </a:rPr>
              <a:t>▸  </a:t>
            </a:r>
            <a:r>
              <a:rPr sz="1900" b="0">
                <a:solidFill>
                  <a:srgbClr val="222A26"/>
                </a:solidFill>
                <a:latin typeface="Calibri"/>
              </a:rPr>
              <a:t>Rhetorical analysis of “The Danger of Sweatshops” – the pentagram</a:t>
            </a:r>
          </a:p>
          <a:p>
            <a:pPr algn="l">
              <a:lnSpc>
                <a:spcPct val="112000"/>
              </a:lnSpc>
              <a:spcAft>
                <a:spcPts val="1000"/>
              </a:spcAft>
            </a:pPr>
            <a:r>
              <a:rPr sz="1600" b="1">
                <a:solidFill>
                  <a:srgbClr val="C06A3C"/>
                </a:solidFill>
                <a:latin typeface="Calibri"/>
              </a:rPr>
              <a:t>▸  </a:t>
            </a:r>
            <a:r>
              <a:rPr sz="1900" b="0">
                <a:solidFill>
                  <a:srgbClr val="222A26"/>
                </a:solidFill>
                <a:latin typeface="Calibri"/>
              </a:rPr>
              <a:t>Modes of persuasion &amp; other rhetorical devices</a:t>
            </a:r>
          </a:p>
          <a:p>
            <a:pPr algn="l">
              <a:lnSpc>
                <a:spcPct val="112000"/>
              </a:lnSpc>
              <a:spcAft>
                <a:spcPts val="1000"/>
              </a:spcAft>
            </a:pPr>
            <a:r>
              <a:rPr sz="1600" b="1">
                <a:solidFill>
                  <a:srgbClr val="C06A3C"/>
                </a:solidFill>
                <a:latin typeface="Calibri"/>
              </a:rPr>
              <a:t>▸  </a:t>
            </a:r>
            <a:r>
              <a:rPr sz="1900" b="0">
                <a:solidFill>
                  <a:srgbClr val="222A26"/>
                </a:solidFill>
                <a:latin typeface="Calibri"/>
              </a:rPr>
              <a:t>Message, intention &amp; the sender–receiver relationship</a:t>
            </a:r>
          </a:p>
          <a:p>
            <a:pPr algn="l">
              <a:lnSpc>
                <a:spcPct val="112000"/>
              </a:lnSpc>
              <a:spcAft>
                <a:spcPts val="1000"/>
              </a:spcAft>
            </a:pPr>
            <a:r>
              <a:rPr sz="1600" b="1">
                <a:solidFill>
                  <a:srgbClr val="C06A3C"/>
                </a:solidFill>
                <a:latin typeface="Calibri"/>
              </a:rPr>
              <a:t>▸  </a:t>
            </a:r>
            <a:r>
              <a:rPr sz="1900" b="0">
                <a:solidFill>
                  <a:srgbClr val="222A26"/>
                </a:solidFill>
                <a:latin typeface="Calibri"/>
              </a:rPr>
              <a:t>Discussion: pros &amp; cons of fast fashion</a:t>
            </a:r>
          </a:p>
          <a:p>
            <a:pPr algn="l">
              <a:lnSpc>
                <a:spcPct val="112000"/>
              </a:lnSpc>
              <a:spcAft>
                <a:spcPts val="1000"/>
              </a:spcAft>
            </a:pPr>
            <a:r>
              <a:rPr sz="1600" b="1">
                <a:solidFill>
                  <a:srgbClr val="C06A3C"/>
                </a:solidFill>
                <a:latin typeface="Calibri"/>
              </a:rPr>
              <a:t>▸  </a:t>
            </a:r>
            <a:r>
              <a:rPr sz="1900" b="0">
                <a:solidFill>
                  <a:srgbClr val="222A26"/>
                </a:solidFill>
                <a:latin typeface="Calibri"/>
              </a:rPr>
              <a:t>Consumer responsibility – what can we do?</a:t>
            </a:r>
          </a:p>
          <a:p>
            <a:pPr algn="l">
              <a:lnSpc>
                <a:spcPct val="112000"/>
              </a:lnSpc>
              <a:spcAft>
                <a:spcPts val="1000"/>
              </a:spcAft>
            </a:pPr>
            <a:r>
              <a:rPr sz="1600" b="1">
                <a:solidFill>
                  <a:srgbClr val="C06A3C"/>
                </a:solidFill>
                <a:latin typeface="Calibri"/>
              </a:rPr>
              <a:t>▸  </a:t>
            </a:r>
            <a:r>
              <a:rPr sz="1900" b="0">
                <a:solidFill>
                  <a:srgbClr val="222A26"/>
                </a:solidFill>
                <a:latin typeface="Calibri"/>
              </a:rPr>
              <a:t>Conclusion</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BACKGROUND</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Our two texts</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“Fast Fashion: The Danger of Sweatshops” – Earth.org</a:t>
            </a:r>
          </a:p>
          <a:p>
            <a:pPr algn="l">
              <a:lnSpc>
                <a:spcPct val="112000"/>
              </a:lnSpc>
              <a:spcAft>
                <a:spcPts val="1000"/>
              </a:spcAft>
            </a:pPr>
            <a:r>
              <a:rPr sz="1500" b="0">
                <a:solidFill>
                  <a:srgbClr val="6B736E"/>
                </a:solidFill>
                <a:latin typeface="Calibri"/>
              </a:rPr>
              <a:t>      –  </a:t>
            </a:r>
            <a:r>
              <a:rPr sz="1600" b="0">
                <a:solidFill>
                  <a:srgbClr val="4A524D"/>
                </a:solidFill>
                <a:latin typeface="Calibri"/>
              </a:rPr>
              <a:t>An environmental, non-profit news &amp; data organisation</a:t>
            </a:r>
          </a:p>
          <a:p>
            <a:pPr algn="l">
              <a:lnSpc>
                <a:spcPct val="112000"/>
              </a:lnSpc>
              <a:spcAft>
                <a:spcPts val="1000"/>
              </a:spcAft>
            </a:pPr>
            <a:r>
              <a:rPr sz="1500" b="0">
                <a:solidFill>
                  <a:srgbClr val="6B736E"/>
                </a:solidFill>
                <a:latin typeface="Calibri"/>
              </a:rPr>
              <a:t>      –  </a:t>
            </a:r>
            <a:r>
              <a:rPr sz="1600" b="0">
                <a:solidFill>
                  <a:srgbClr val="4A524D"/>
                </a:solidFill>
                <a:latin typeface="Calibri"/>
              </a:rPr>
              <a:t>Focus: the human &amp; environmental cost of cheap clothing</a:t>
            </a:r>
          </a:p>
          <a:p>
            <a:pPr algn="l">
              <a:lnSpc>
                <a:spcPct val="112000"/>
              </a:lnSpc>
              <a:spcAft>
                <a:spcPts val="1000"/>
              </a:spcAft>
            </a:pPr>
            <a:r>
              <a:rPr sz="1600" b="1">
                <a:solidFill>
                  <a:srgbClr val="C06A3C"/>
                </a:solidFill>
                <a:latin typeface="Calibri"/>
              </a:rPr>
              <a:t>▸  </a:t>
            </a:r>
            <a:r>
              <a:rPr sz="1900" b="0">
                <a:solidFill>
                  <a:srgbClr val="222A26"/>
                </a:solidFill>
                <a:latin typeface="Calibri"/>
              </a:rPr>
              <a:t>“The Greening of Throwaway Stuff” – BusinessLike (Systime)</a:t>
            </a:r>
          </a:p>
          <a:p>
            <a:pPr algn="l">
              <a:lnSpc>
                <a:spcPct val="112000"/>
              </a:lnSpc>
              <a:spcAft>
                <a:spcPts val="1000"/>
              </a:spcAft>
            </a:pPr>
            <a:r>
              <a:rPr sz="1500" b="0">
                <a:solidFill>
                  <a:srgbClr val="6B736E"/>
                </a:solidFill>
                <a:latin typeface="Calibri"/>
              </a:rPr>
              <a:t>      –  </a:t>
            </a:r>
            <a:r>
              <a:rPr sz="1600" b="0">
                <a:solidFill>
                  <a:srgbClr val="4A524D"/>
                </a:solidFill>
                <a:latin typeface="Calibri"/>
              </a:rPr>
              <a:t>Focus: our throwaway culture &amp; how it can become ‘greener’</a:t>
            </a:r>
          </a:p>
          <a:p>
            <a:pPr algn="l">
              <a:lnSpc>
                <a:spcPct val="112000"/>
              </a:lnSpc>
              <a:spcAft>
                <a:spcPts val="1000"/>
              </a:spcAft>
            </a:pPr>
            <a:r>
              <a:rPr sz="1600" b="1">
                <a:solidFill>
                  <a:srgbClr val="C06A3C"/>
                </a:solidFill>
                <a:latin typeface="Calibri"/>
              </a:rPr>
              <a:t>▸  </a:t>
            </a:r>
            <a:r>
              <a:rPr sz="1900" b="0">
                <a:solidFill>
                  <a:srgbClr val="222A26"/>
                </a:solidFill>
                <a:latin typeface="Calibri"/>
              </a:rPr>
              <a:t>Both deal with overconsumption – a case + a wider perspective</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DEFINITIONS</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Key terms</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Consumerism – the society</a:t>
            </a:r>
          </a:p>
          <a:p>
            <a:pPr algn="l">
              <a:lnSpc>
                <a:spcPct val="112000"/>
              </a:lnSpc>
              <a:spcAft>
                <a:spcPts val="1000"/>
              </a:spcAft>
            </a:pPr>
            <a:r>
              <a:rPr sz="1500" b="0">
                <a:solidFill>
                  <a:srgbClr val="6B736E"/>
                </a:solidFill>
                <a:latin typeface="Calibri"/>
              </a:rPr>
              <a:t>      –  </a:t>
            </a:r>
            <a:r>
              <a:rPr sz="1600" b="0">
                <a:solidFill>
                  <a:srgbClr val="4A524D"/>
                </a:solidFill>
                <a:latin typeface="Calibri"/>
              </a:rPr>
              <a:t>A social &amp; economic order that pushes us to keep buying goods</a:t>
            </a:r>
          </a:p>
          <a:p>
            <a:pPr algn="l">
              <a:lnSpc>
                <a:spcPct val="112000"/>
              </a:lnSpc>
              <a:spcAft>
                <a:spcPts val="1000"/>
              </a:spcAft>
            </a:pPr>
            <a:r>
              <a:rPr sz="1600" b="1">
                <a:solidFill>
                  <a:srgbClr val="C06A3C"/>
                </a:solidFill>
                <a:latin typeface="Calibri"/>
              </a:rPr>
              <a:t>▸  </a:t>
            </a:r>
            <a:r>
              <a:rPr sz="1900" b="0">
                <a:solidFill>
                  <a:srgbClr val="222A26"/>
                </a:solidFill>
                <a:latin typeface="Calibri"/>
              </a:rPr>
              <a:t>Materialism – the mindset</a:t>
            </a:r>
          </a:p>
          <a:p>
            <a:pPr algn="l">
              <a:lnSpc>
                <a:spcPct val="112000"/>
              </a:lnSpc>
              <a:spcAft>
                <a:spcPts val="1000"/>
              </a:spcAft>
            </a:pPr>
            <a:r>
              <a:rPr sz="1500" b="0">
                <a:solidFill>
                  <a:srgbClr val="6B736E"/>
                </a:solidFill>
                <a:latin typeface="Calibri"/>
              </a:rPr>
              <a:t>      –  </a:t>
            </a:r>
            <a:r>
              <a:rPr sz="1600" b="0">
                <a:solidFill>
                  <a:srgbClr val="4A524D"/>
                </a:solidFill>
                <a:latin typeface="Calibri"/>
              </a:rPr>
              <a:t>Owning things &amp; money matter more than other values</a:t>
            </a:r>
          </a:p>
          <a:p>
            <a:pPr algn="l">
              <a:lnSpc>
                <a:spcPct val="112000"/>
              </a:lnSpc>
              <a:spcAft>
                <a:spcPts val="1000"/>
              </a:spcAft>
            </a:pPr>
            <a:r>
              <a:rPr sz="1600" b="1">
                <a:solidFill>
                  <a:srgbClr val="C06A3C"/>
                </a:solidFill>
                <a:latin typeface="Calibri"/>
              </a:rPr>
              <a:t>▸  </a:t>
            </a:r>
            <a:r>
              <a:rPr sz="1900" b="0">
                <a:solidFill>
                  <a:srgbClr val="222A26"/>
                </a:solidFill>
                <a:latin typeface="Calibri"/>
              </a:rPr>
              <a:t>Fast fashion – the product</a:t>
            </a:r>
          </a:p>
          <a:p>
            <a:pPr algn="l">
              <a:lnSpc>
                <a:spcPct val="112000"/>
              </a:lnSpc>
              <a:spcAft>
                <a:spcPts val="1000"/>
              </a:spcAft>
            </a:pPr>
            <a:r>
              <a:rPr sz="1500" b="0">
                <a:solidFill>
                  <a:srgbClr val="6B736E"/>
                </a:solidFill>
                <a:latin typeface="Calibri"/>
              </a:rPr>
              <a:t>      –  </a:t>
            </a:r>
            <a:r>
              <a:rPr sz="1600" b="0">
                <a:solidFill>
                  <a:srgbClr val="4A524D"/>
                </a:solidFill>
                <a:latin typeface="Calibri"/>
              </a:rPr>
              <a:t>Cheap, mass-produced, trend-copying clothes made to be thrown away</a:t>
            </a:r>
          </a:p>
          <a:p>
            <a:pPr algn="l">
              <a:lnSpc>
                <a:spcPct val="112000"/>
              </a:lnSpc>
              <a:spcAft>
                <a:spcPts val="1000"/>
              </a:spcAft>
            </a:pPr>
            <a:r>
              <a:rPr sz="1500" b="0">
                <a:solidFill>
                  <a:srgbClr val="6B736E"/>
                </a:solidFill>
                <a:latin typeface="Calibri"/>
              </a:rPr>
              <a:t>      –  </a:t>
            </a:r>
            <a:r>
              <a:rPr sz="1600" b="0">
                <a:solidFill>
                  <a:srgbClr val="4A524D"/>
                </a:solidFill>
                <a:latin typeface="Calibri"/>
              </a:rPr>
              <a:t>e.g. Shein, H&amp;M, Zara, Primark</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RHETORICAL ANALYSIS</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The rhetorical pentagram</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331720"/>
            <a:ext cx="4297680" cy="3657600"/>
          </a:xfrm>
          <a:prstGeom prst="rect">
            <a:avLst/>
          </a:prstGeom>
          <a:noFill/>
        </p:spPr>
        <p:txBody>
          <a:bodyPr wrap="square" anchor="t">
            <a:spAutoFit/>
          </a:bodyPr>
          <a:lstStyle/>
          <a:p>
            <a:pPr algn="l">
              <a:lnSpc>
                <a:spcPct val="115000"/>
              </a:lnSpc>
              <a:spcAft>
                <a:spcPts val="1400"/>
              </a:spcAft>
            </a:pPr>
            <a:r>
              <a:rPr sz="1600" b="1">
                <a:solidFill>
                  <a:srgbClr val="C06A3C"/>
                </a:solidFill>
                <a:latin typeface="Calibri"/>
              </a:rPr>
              <a:t>▸  </a:t>
            </a:r>
            <a:r>
              <a:rPr sz="1800" b="0">
                <a:solidFill>
                  <a:srgbClr val="222A26"/>
                </a:solidFill>
                <a:latin typeface="Calibri"/>
              </a:rPr>
              <a:t>A model of the communication situation</a:t>
            </a:r>
          </a:p>
          <a:p>
            <a:pPr algn="l">
              <a:lnSpc>
                <a:spcPct val="115000"/>
              </a:lnSpc>
              <a:spcAft>
                <a:spcPts val="1400"/>
              </a:spcAft>
            </a:pPr>
            <a:r>
              <a:rPr sz="1600" b="1">
                <a:solidFill>
                  <a:srgbClr val="C06A3C"/>
                </a:solidFill>
                <a:latin typeface="Calibri"/>
              </a:rPr>
              <a:t>▸  </a:t>
            </a:r>
            <a:r>
              <a:rPr sz="1800" b="0">
                <a:solidFill>
                  <a:srgbClr val="222A26"/>
                </a:solidFill>
                <a:latin typeface="Calibri"/>
              </a:rPr>
              <a:t>Five points that all influence each other</a:t>
            </a:r>
          </a:p>
          <a:p>
            <a:pPr algn="l">
              <a:lnSpc>
                <a:spcPct val="115000"/>
              </a:lnSpc>
              <a:spcAft>
                <a:spcPts val="1400"/>
              </a:spcAft>
            </a:pPr>
            <a:r>
              <a:rPr sz="1600" b="1">
                <a:solidFill>
                  <a:srgbClr val="C06A3C"/>
                </a:solidFill>
                <a:latin typeface="Calibri"/>
              </a:rPr>
              <a:t>▸  </a:t>
            </a:r>
            <a:r>
              <a:rPr sz="1800" b="0">
                <a:solidFill>
                  <a:srgbClr val="222A26"/>
                </a:solidFill>
                <a:latin typeface="Calibri"/>
              </a:rPr>
              <a:t>Change one – and the others change too</a:t>
            </a:r>
          </a:p>
        </p:txBody>
      </p:sp>
      <p:cxnSp>
        <p:nvCxnSpPr>
          <p:cNvPr id="7" name="Connector 6"/>
          <p:cNvCxnSpPr/>
          <p:nvPr/>
        </p:nvCxnSpPr>
        <p:spPr>
          <a:xfrm>
            <a:off x="8595360" y="2103120"/>
            <a:ext cx="1695809" cy="1232077"/>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595360" y="2103120"/>
            <a:ext cx="1048068" cy="3225622"/>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547291" y="2103120"/>
            <a:ext cx="1048069" cy="3225622"/>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899550" y="2103120"/>
            <a:ext cx="1695810" cy="1232077"/>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9643428" y="3335197"/>
            <a:ext cx="647741" cy="1993545"/>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7547291" y="3335197"/>
            <a:ext cx="2743878" cy="1993545"/>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6899550" y="3335197"/>
            <a:ext cx="3391619" cy="0"/>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7547291" y="5328742"/>
            <a:ext cx="2096137" cy="0"/>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6899550" y="3335197"/>
            <a:ext cx="2743878" cy="1993545"/>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6899550" y="3335197"/>
            <a:ext cx="647741" cy="1993545"/>
          </a:xfrm>
          <a:prstGeom prst="line">
            <a:avLst/>
          </a:prstGeom>
          <a:ln w="15875">
            <a:solidFill>
              <a:srgbClr val="3F7D6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589520" y="3611880"/>
            <a:ext cx="2011680" cy="548640"/>
          </a:xfrm>
          <a:prstGeom prst="rect">
            <a:avLst/>
          </a:prstGeom>
          <a:noFill/>
        </p:spPr>
        <p:txBody>
          <a:bodyPr wrap="square" anchor="ctr">
            <a:spAutoFit/>
          </a:bodyPr>
          <a:lstStyle/>
          <a:p>
            <a:pPr algn="ctr">
              <a:lnSpc>
                <a:spcPct val="100000"/>
              </a:lnSpc>
              <a:spcAft>
                <a:spcPts val="0"/>
              </a:spcAft>
            </a:pPr>
            <a:r>
              <a:rPr sz="1300" b="0">
                <a:solidFill>
                  <a:srgbClr val="6B736E"/>
                </a:solidFill>
                <a:latin typeface="Georgia"/>
              </a:rPr>
              <a:t>the text</a:t>
            </a:r>
          </a:p>
          <a:p>
            <a:pPr algn="ctr">
              <a:lnSpc>
                <a:spcPct val="100000"/>
              </a:lnSpc>
              <a:spcAft>
                <a:spcPts val="0"/>
              </a:spcAft>
            </a:pPr>
            <a:r>
              <a:rPr sz="1300" b="0">
                <a:solidFill>
                  <a:srgbClr val="6B736E"/>
                </a:solidFill>
                <a:latin typeface="Georgia"/>
              </a:rPr>
              <a:t>&amp; its situation</a:t>
            </a:r>
          </a:p>
        </p:txBody>
      </p:sp>
      <p:sp>
        <p:nvSpPr>
          <p:cNvPr id="18" name="Rounded Rectangle 17"/>
          <p:cNvSpPr/>
          <p:nvPr/>
        </p:nvSpPr>
        <p:spPr>
          <a:xfrm>
            <a:off x="7680960" y="1773936"/>
            <a:ext cx="1828800" cy="658368"/>
          </a:xfrm>
          <a:prstGeom prst="roundRect">
            <a:avLst/>
          </a:prstGeom>
          <a:solidFill>
            <a:srgbClr val="1E3D32"/>
          </a:solidFill>
          <a:ln>
            <a:solidFill>
              <a:srgbClr val="1E3D3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Topic
</a:t>
            </a:r>
            <a:r>
              <a:rPr sz="1100" i="1">
                <a:solidFill>
                  <a:srgbClr val="C9D8CF"/>
                </a:solidFill>
                <a:latin typeface="Calibri"/>
              </a:rPr>
              <a:t>Emne</a:t>
            </a:r>
          </a:p>
        </p:txBody>
      </p:sp>
      <p:sp>
        <p:nvSpPr>
          <p:cNvPr id="19" name="Rounded Rectangle 18"/>
          <p:cNvSpPr/>
          <p:nvPr/>
        </p:nvSpPr>
        <p:spPr>
          <a:xfrm>
            <a:off x="9376769" y="3006013"/>
            <a:ext cx="1828800" cy="658368"/>
          </a:xfrm>
          <a:prstGeom prst="roundRect">
            <a:avLst/>
          </a:prstGeom>
          <a:solidFill>
            <a:srgbClr val="1E3D32"/>
          </a:solidFill>
          <a:ln>
            <a:solidFill>
              <a:srgbClr val="1E3D3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Receiver
</a:t>
            </a:r>
            <a:r>
              <a:rPr sz="1100" i="1">
                <a:solidFill>
                  <a:srgbClr val="C9D8CF"/>
                </a:solidFill>
                <a:latin typeface="Calibri"/>
              </a:rPr>
              <a:t>Modtager</a:t>
            </a:r>
          </a:p>
        </p:txBody>
      </p:sp>
      <p:sp>
        <p:nvSpPr>
          <p:cNvPr id="20" name="Rounded Rectangle 19"/>
          <p:cNvSpPr/>
          <p:nvPr/>
        </p:nvSpPr>
        <p:spPr>
          <a:xfrm>
            <a:off x="8729028" y="4999558"/>
            <a:ext cx="1828800" cy="658368"/>
          </a:xfrm>
          <a:prstGeom prst="roundRect">
            <a:avLst/>
          </a:prstGeom>
          <a:solidFill>
            <a:srgbClr val="1E3D32"/>
          </a:solidFill>
          <a:ln>
            <a:solidFill>
              <a:srgbClr val="1E3D3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Language
</a:t>
            </a:r>
            <a:r>
              <a:rPr sz="1100" i="1">
                <a:solidFill>
                  <a:srgbClr val="C9D8CF"/>
                </a:solidFill>
                <a:latin typeface="Calibri"/>
              </a:rPr>
              <a:t>Sprog</a:t>
            </a:r>
          </a:p>
        </p:txBody>
      </p:sp>
      <p:sp>
        <p:nvSpPr>
          <p:cNvPr id="21" name="Rounded Rectangle 20"/>
          <p:cNvSpPr/>
          <p:nvPr/>
        </p:nvSpPr>
        <p:spPr>
          <a:xfrm>
            <a:off x="6632891" y="4999558"/>
            <a:ext cx="1828800" cy="658368"/>
          </a:xfrm>
          <a:prstGeom prst="roundRect">
            <a:avLst/>
          </a:prstGeom>
          <a:solidFill>
            <a:srgbClr val="1E3D32"/>
          </a:solidFill>
          <a:ln>
            <a:solidFill>
              <a:srgbClr val="1E3D3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Circumstances
</a:t>
            </a:r>
            <a:r>
              <a:rPr sz="1100" i="1">
                <a:solidFill>
                  <a:srgbClr val="C9D8CF"/>
                </a:solidFill>
                <a:latin typeface="Calibri"/>
              </a:rPr>
              <a:t>Omstændigheder</a:t>
            </a:r>
          </a:p>
        </p:txBody>
      </p:sp>
      <p:sp>
        <p:nvSpPr>
          <p:cNvPr id="22" name="Rounded Rectangle 21"/>
          <p:cNvSpPr/>
          <p:nvPr/>
        </p:nvSpPr>
        <p:spPr>
          <a:xfrm>
            <a:off x="5985150" y="3006013"/>
            <a:ext cx="1828800" cy="658368"/>
          </a:xfrm>
          <a:prstGeom prst="roundRect">
            <a:avLst/>
          </a:prstGeom>
          <a:solidFill>
            <a:srgbClr val="1E3D32"/>
          </a:solidFill>
          <a:ln>
            <a:solidFill>
              <a:srgbClr val="1E3D3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Sender
</a:t>
            </a:r>
            <a:r>
              <a:rPr sz="1100" i="1">
                <a:solidFill>
                  <a:srgbClr val="C9D8CF"/>
                </a:solidFill>
                <a:latin typeface="Calibri"/>
              </a:rPr>
              <a:t>Afsender</a:t>
            </a:r>
          </a:p>
        </p:txBody>
      </p:sp>
      <p:sp>
        <p:nvSpPr>
          <p:cNvPr id="23" name="TextBox 22"/>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24" name="TextBox 23"/>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PENTAGRAM – 1 OF 5</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Sender (Afsender)</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Earth.org – an environmental, non-profit news &amp; data organisation</a:t>
            </a:r>
          </a:p>
          <a:p>
            <a:pPr algn="l">
              <a:lnSpc>
                <a:spcPct val="112000"/>
              </a:lnSpc>
              <a:spcAft>
                <a:spcPts val="1000"/>
              </a:spcAft>
            </a:pPr>
            <a:r>
              <a:rPr sz="1600" b="1">
                <a:solidFill>
                  <a:srgbClr val="C06A3C"/>
                </a:solidFill>
                <a:latin typeface="Calibri"/>
              </a:rPr>
              <a:t>▸  </a:t>
            </a:r>
            <a:r>
              <a:rPr sz="1900" b="0">
                <a:solidFill>
                  <a:srgbClr val="222A26"/>
                </a:solidFill>
                <a:latin typeface="Calibri"/>
              </a:rPr>
              <a:t>An institution, not a single famous author → ‘expert’ ethos</a:t>
            </a:r>
          </a:p>
          <a:p>
            <a:pPr algn="l">
              <a:lnSpc>
                <a:spcPct val="112000"/>
              </a:lnSpc>
              <a:spcAft>
                <a:spcPts val="1000"/>
              </a:spcAft>
            </a:pPr>
            <a:r>
              <a:rPr sz="1600" b="1">
                <a:solidFill>
                  <a:srgbClr val="C06A3C"/>
                </a:solidFill>
                <a:latin typeface="Calibri"/>
              </a:rPr>
              <a:t>▸  </a:t>
            </a:r>
            <a:r>
              <a:rPr sz="1900" b="0">
                <a:solidFill>
                  <a:srgbClr val="222A26"/>
                </a:solidFill>
                <a:latin typeface="Calibri"/>
              </a:rPr>
              <a:t>Mission-driven: advocacy &amp; education → not neutral, has an agenda</a:t>
            </a:r>
          </a:p>
          <a:p>
            <a:pPr algn="l">
              <a:lnSpc>
                <a:spcPct val="112000"/>
              </a:lnSpc>
              <a:spcAft>
                <a:spcPts val="1000"/>
              </a:spcAft>
            </a:pPr>
            <a:r>
              <a:rPr sz="1600" b="1">
                <a:solidFill>
                  <a:srgbClr val="C06A3C"/>
                </a:solidFill>
                <a:latin typeface="Calibri"/>
              </a:rPr>
              <a:t>▸  </a:t>
            </a:r>
            <a:r>
              <a:rPr sz="1900" b="0">
                <a:solidFill>
                  <a:srgbClr val="222A26"/>
                </a:solidFill>
                <a:latin typeface="Calibri"/>
              </a:rPr>
              <a:t>Credibility built on data, surveys &amp; a serious tone</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PENTAGRAM – 2 OF 5</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Receiver (Modtager)</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Environmentally conscious, educated readers; students; the young</a:t>
            </a:r>
          </a:p>
          <a:p>
            <a:pPr algn="l">
              <a:lnSpc>
                <a:spcPct val="112000"/>
              </a:lnSpc>
              <a:spcAft>
                <a:spcPts val="1000"/>
              </a:spcAft>
            </a:pPr>
            <a:r>
              <a:rPr sz="1600" b="1">
                <a:solidFill>
                  <a:srgbClr val="C06A3C"/>
                </a:solidFill>
                <a:latin typeface="Calibri"/>
              </a:rPr>
              <a:t>▸  </a:t>
            </a:r>
            <a:r>
              <a:rPr sz="1900" b="0">
                <a:solidFill>
                  <a:srgbClr val="222A26"/>
                </a:solidFill>
                <a:latin typeface="Calibri"/>
              </a:rPr>
              <a:t>Western/global consumers who actually buy fast fashion</a:t>
            </a:r>
          </a:p>
          <a:p>
            <a:pPr algn="l">
              <a:lnSpc>
                <a:spcPct val="112000"/>
              </a:lnSpc>
              <a:spcAft>
                <a:spcPts val="1000"/>
              </a:spcAft>
            </a:pPr>
            <a:r>
              <a:rPr sz="1600" b="1">
                <a:solidFill>
                  <a:srgbClr val="C06A3C"/>
                </a:solidFill>
                <a:latin typeface="Calibri"/>
              </a:rPr>
              <a:t>▸  </a:t>
            </a:r>
            <a:r>
              <a:rPr sz="1900" b="0">
                <a:solidFill>
                  <a:srgbClr val="222A26"/>
                </a:solidFill>
                <a:latin typeface="Calibri"/>
              </a:rPr>
              <a:t>People open to changing their habits – or at least curious</a:t>
            </a:r>
          </a:p>
          <a:p>
            <a:pPr algn="l">
              <a:lnSpc>
                <a:spcPct val="112000"/>
              </a:lnSpc>
              <a:spcAft>
                <a:spcPts val="1000"/>
              </a:spcAft>
            </a:pPr>
            <a:r>
              <a:rPr sz="1600" b="1">
                <a:solidFill>
                  <a:srgbClr val="C06A3C"/>
                </a:solidFill>
                <a:latin typeface="Calibri"/>
              </a:rPr>
              <a:t>▸  </a:t>
            </a:r>
            <a:r>
              <a:rPr sz="1900" b="0">
                <a:solidFill>
                  <a:srgbClr val="222A26"/>
                </a:solidFill>
                <a:latin typeface="Calibri"/>
              </a:rPr>
              <a:t>Addressed as both rational AND moral beings</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PENTAGRAM – 3 OF 5</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Topic / Subject (Emne)</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The human &amp; environmental cost of fast-fashion sweatshops</a:t>
            </a:r>
          </a:p>
          <a:p>
            <a:pPr algn="l">
              <a:lnSpc>
                <a:spcPct val="112000"/>
              </a:lnSpc>
              <a:spcAft>
                <a:spcPts val="1000"/>
              </a:spcAft>
            </a:pPr>
            <a:r>
              <a:rPr sz="1600" b="1">
                <a:solidFill>
                  <a:srgbClr val="C06A3C"/>
                </a:solidFill>
                <a:latin typeface="Calibri"/>
              </a:rPr>
              <a:t>▸  </a:t>
            </a:r>
            <a:r>
              <a:rPr sz="1900" b="0">
                <a:solidFill>
                  <a:srgbClr val="222A26"/>
                </a:solidFill>
                <a:latin typeface="Calibri"/>
              </a:rPr>
              <a:t>Exploitation: poverty wages, child labour, unsafe factories</a:t>
            </a:r>
          </a:p>
          <a:p>
            <a:pPr algn="l">
              <a:lnSpc>
                <a:spcPct val="112000"/>
              </a:lnSpc>
              <a:spcAft>
                <a:spcPts val="1000"/>
              </a:spcAft>
            </a:pPr>
            <a:r>
              <a:rPr sz="1500" b="0">
                <a:solidFill>
                  <a:srgbClr val="6B736E"/>
                </a:solidFill>
                <a:latin typeface="Calibri"/>
              </a:rPr>
              <a:t>      –  </a:t>
            </a:r>
            <a:r>
              <a:rPr sz="1600" b="0">
                <a:solidFill>
                  <a:srgbClr val="4A524D"/>
                </a:solidFill>
                <a:latin typeface="Calibri"/>
              </a:rPr>
              <a:t>Rana Plaza, Bangladesh, 2013 – 1,000+ workers died</a:t>
            </a:r>
          </a:p>
          <a:p>
            <a:pPr algn="l">
              <a:lnSpc>
                <a:spcPct val="112000"/>
              </a:lnSpc>
              <a:spcAft>
                <a:spcPts val="1000"/>
              </a:spcAft>
            </a:pPr>
            <a:r>
              <a:rPr sz="1600" b="1">
                <a:solidFill>
                  <a:srgbClr val="C06A3C"/>
                </a:solidFill>
                <a:latin typeface="Calibri"/>
              </a:rPr>
              <a:t>▸  </a:t>
            </a:r>
            <a:r>
              <a:rPr sz="1900" b="0">
                <a:solidFill>
                  <a:srgbClr val="222A26"/>
                </a:solidFill>
                <a:latin typeface="Calibri"/>
              </a:rPr>
              <a:t>Waste: 80–100 billion garments/year; a truckload burned every second</a:t>
            </a:r>
          </a:p>
          <a:p>
            <a:pPr algn="l">
              <a:lnSpc>
                <a:spcPct val="112000"/>
              </a:lnSpc>
              <a:spcAft>
                <a:spcPts val="1000"/>
              </a:spcAft>
            </a:pPr>
            <a:r>
              <a:rPr sz="1600" b="1">
                <a:solidFill>
                  <a:srgbClr val="C06A3C"/>
                </a:solidFill>
                <a:latin typeface="Calibri"/>
              </a:rPr>
              <a:t>▸  </a:t>
            </a:r>
            <a:r>
              <a:rPr sz="1900" b="0">
                <a:solidFill>
                  <a:srgbClr val="222A26"/>
                </a:solidFill>
                <a:latin typeface="Calibri"/>
              </a:rPr>
              <a:t>The ‘true price’ hidden behind the cheap price tag</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PENTAGRAM – 4 OF 5</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Language (Sprog)</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Formal but accessible English – academic yet readable</a:t>
            </a:r>
          </a:p>
          <a:p>
            <a:pPr algn="l">
              <a:lnSpc>
                <a:spcPct val="112000"/>
              </a:lnSpc>
              <a:spcAft>
                <a:spcPts val="1000"/>
              </a:spcAft>
            </a:pPr>
            <a:r>
              <a:rPr sz="1600" b="1">
                <a:solidFill>
                  <a:srgbClr val="C06A3C"/>
                </a:solidFill>
                <a:latin typeface="Calibri"/>
              </a:rPr>
              <a:t>▸  </a:t>
            </a:r>
            <a:r>
              <a:rPr sz="1900" b="0">
                <a:solidFill>
                  <a:srgbClr val="222A26"/>
                </a:solidFill>
                <a:latin typeface="Calibri"/>
              </a:rPr>
              <a:t>Emotive, loaded words: ‘grueling’, ‘cruel’, ‘inhumane’, ‘exploited’</a:t>
            </a:r>
          </a:p>
          <a:p>
            <a:pPr algn="l">
              <a:lnSpc>
                <a:spcPct val="112000"/>
              </a:lnSpc>
              <a:spcAft>
                <a:spcPts val="1000"/>
              </a:spcAft>
            </a:pPr>
            <a:r>
              <a:rPr sz="1600" b="1">
                <a:solidFill>
                  <a:srgbClr val="C06A3C"/>
                </a:solidFill>
                <a:latin typeface="Calibri"/>
              </a:rPr>
              <a:t>▸  </a:t>
            </a:r>
            <a:r>
              <a:rPr sz="1900" b="0">
                <a:solidFill>
                  <a:srgbClr val="222A26"/>
                </a:solidFill>
                <a:latin typeface="Calibri"/>
              </a:rPr>
              <a:t>Heavy use of facts, figures &amp; surveys → objective register</a:t>
            </a:r>
          </a:p>
          <a:p>
            <a:pPr algn="l">
              <a:lnSpc>
                <a:spcPct val="112000"/>
              </a:lnSpc>
              <a:spcAft>
                <a:spcPts val="1000"/>
              </a:spcAft>
            </a:pPr>
            <a:r>
              <a:rPr sz="1600" b="1">
                <a:solidFill>
                  <a:srgbClr val="C06A3C"/>
                </a:solidFill>
                <a:latin typeface="Calibri"/>
              </a:rPr>
              <a:t>▸  </a:t>
            </a:r>
            <a:r>
              <a:rPr sz="1900" b="0">
                <a:solidFill>
                  <a:srgbClr val="222A26"/>
                </a:solidFill>
                <a:latin typeface="Calibri"/>
              </a:rPr>
              <a:t>A deliberate blend of the factual and the emotional</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PENTAGRAM – 5 OF 5</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Circumstances / Context (Omstændigheder)</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Written amid the global climate &amp; sustainability debate</a:t>
            </a:r>
          </a:p>
          <a:p>
            <a:pPr algn="l">
              <a:lnSpc>
                <a:spcPct val="112000"/>
              </a:lnSpc>
              <a:spcAft>
                <a:spcPts val="1000"/>
              </a:spcAft>
            </a:pPr>
            <a:r>
              <a:rPr sz="1600" b="1">
                <a:solidFill>
                  <a:srgbClr val="C06A3C"/>
                </a:solidFill>
                <a:latin typeface="Calibri"/>
              </a:rPr>
              <a:t>▸  </a:t>
            </a:r>
            <a:r>
              <a:rPr sz="1900" b="0">
                <a:solidFill>
                  <a:srgbClr val="222A26"/>
                </a:solidFill>
                <a:latin typeface="Calibri"/>
              </a:rPr>
              <a:t>The boom of ultra-fast fashion (e.g. Shein)</a:t>
            </a:r>
          </a:p>
          <a:p>
            <a:pPr algn="l">
              <a:lnSpc>
                <a:spcPct val="112000"/>
              </a:lnSpc>
              <a:spcAft>
                <a:spcPts val="1000"/>
              </a:spcAft>
            </a:pPr>
            <a:r>
              <a:rPr sz="1600" b="1">
                <a:solidFill>
                  <a:srgbClr val="C06A3C"/>
                </a:solidFill>
                <a:latin typeface="Calibri"/>
              </a:rPr>
              <a:t>▸  </a:t>
            </a:r>
            <a:r>
              <a:rPr sz="1900" b="0">
                <a:solidFill>
                  <a:srgbClr val="222A26"/>
                </a:solidFill>
                <a:latin typeface="Calibri"/>
              </a:rPr>
              <a:t>Post-Rana Plaza awareness of garment-worker safety</a:t>
            </a:r>
          </a:p>
          <a:p>
            <a:pPr algn="l">
              <a:lnSpc>
                <a:spcPct val="112000"/>
              </a:lnSpc>
              <a:spcAft>
                <a:spcPts val="1000"/>
              </a:spcAft>
            </a:pPr>
            <a:r>
              <a:rPr sz="1600" b="1">
                <a:solidFill>
                  <a:srgbClr val="C06A3C"/>
                </a:solidFill>
                <a:latin typeface="Calibri"/>
              </a:rPr>
              <a:t>▸  </a:t>
            </a:r>
            <a:r>
              <a:rPr sz="1900" b="0">
                <a:solidFill>
                  <a:srgbClr val="222A26"/>
                </a:solidFill>
                <a:latin typeface="Calibri"/>
              </a:rPr>
              <a:t>Published online – free, shareable, global, hyperlinked sources</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RHETORIC</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Modes of persuasion</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Ethos – Earth.org’s authority; sober, well-sourced tone</a:t>
            </a:r>
          </a:p>
          <a:p>
            <a:pPr algn="l">
              <a:lnSpc>
                <a:spcPct val="112000"/>
              </a:lnSpc>
              <a:spcAft>
                <a:spcPts val="1000"/>
              </a:spcAft>
            </a:pPr>
            <a:r>
              <a:rPr sz="1600" b="1">
                <a:solidFill>
                  <a:srgbClr val="C06A3C"/>
                </a:solidFill>
                <a:latin typeface="Calibri"/>
              </a:rPr>
              <a:t>▸  </a:t>
            </a:r>
            <a:r>
              <a:rPr sz="1900" b="0">
                <a:solidFill>
                  <a:srgbClr val="222A26"/>
                </a:solidFill>
                <a:latin typeface="Calibri"/>
              </a:rPr>
              <a:t>Logos – statistics &amp; cause–effect</a:t>
            </a:r>
          </a:p>
          <a:p>
            <a:pPr algn="l">
              <a:lnSpc>
                <a:spcPct val="112000"/>
              </a:lnSpc>
              <a:spcAft>
                <a:spcPts val="1000"/>
              </a:spcAft>
            </a:pPr>
            <a:r>
              <a:rPr sz="1500" b="0">
                <a:solidFill>
                  <a:srgbClr val="6B736E"/>
                </a:solidFill>
                <a:latin typeface="Calibri"/>
              </a:rPr>
              <a:t>      –  </a:t>
            </a:r>
            <a:r>
              <a:rPr sz="1600" b="0">
                <a:solidFill>
                  <a:srgbClr val="4A524D"/>
                </a:solidFill>
                <a:latin typeface="Calibri"/>
              </a:rPr>
              <a:t>60% of surveyed Indian mill workers were under 18</a:t>
            </a:r>
          </a:p>
          <a:p>
            <a:pPr algn="l">
              <a:lnSpc>
                <a:spcPct val="112000"/>
              </a:lnSpc>
              <a:spcAft>
                <a:spcPts val="1000"/>
              </a:spcAft>
            </a:pPr>
            <a:r>
              <a:rPr sz="1500" b="0">
                <a:solidFill>
                  <a:srgbClr val="6B736E"/>
                </a:solidFill>
                <a:latin typeface="Calibri"/>
              </a:rPr>
              <a:t>      –  </a:t>
            </a:r>
            <a:r>
              <a:rPr sz="1600" b="0">
                <a:solidFill>
                  <a:srgbClr val="4A524D"/>
                </a:solidFill>
                <a:latin typeface="Calibri"/>
              </a:rPr>
              <a:t>wages cover only 1/5–1/2 of a family’s needs; 1,000+ Rana Plaza deaths</a:t>
            </a:r>
          </a:p>
          <a:p>
            <a:pPr algn="l">
              <a:lnSpc>
                <a:spcPct val="112000"/>
              </a:lnSpc>
              <a:spcAft>
                <a:spcPts val="1000"/>
              </a:spcAft>
            </a:pPr>
            <a:r>
              <a:rPr sz="1600" b="1">
                <a:solidFill>
                  <a:srgbClr val="C06A3C"/>
                </a:solidFill>
                <a:latin typeface="Calibri"/>
              </a:rPr>
              <a:t>▸  </a:t>
            </a:r>
            <a:r>
              <a:rPr sz="1900" b="0">
                <a:solidFill>
                  <a:srgbClr val="222A26"/>
                </a:solidFill>
                <a:latin typeface="Calibri"/>
              </a:rPr>
              <a:t>Pathos – emotive language; women &amp; children; cruel conditions</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RHETORIC</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Other rhetorical devices</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Loaded / connotative language → guilt &amp; moral appeal</a:t>
            </a:r>
          </a:p>
          <a:p>
            <a:pPr algn="l">
              <a:lnSpc>
                <a:spcPct val="112000"/>
              </a:lnSpc>
              <a:spcAft>
                <a:spcPts val="1000"/>
              </a:spcAft>
            </a:pPr>
            <a:r>
              <a:rPr sz="1600" b="1">
                <a:solidFill>
                  <a:srgbClr val="C06A3C"/>
                </a:solidFill>
                <a:latin typeface="Calibri"/>
              </a:rPr>
              <a:t>▸  </a:t>
            </a:r>
            <a:r>
              <a:rPr sz="1900" b="0">
                <a:solidFill>
                  <a:srgbClr val="222A26"/>
                </a:solidFill>
                <a:latin typeface="Calibri"/>
              </a:rPr>
              <a:t>Vivid imagery &amp; near-hyperbole (“a truckload burned every second”)</a:t>
            </a:r>
          </a:p>
          <a:p>
            <a:pPr algn="l">
              <a:lnSpc>
                <a:spcPct val="112000"/>
              </a:lnSpc>
              <a:spcAft>
                <a:spcPts val="1000"/>
              </a:spcAft>
            </a:pPr>
            <a:r>
              <a:rPr sz="1600" b="1">
                <a:solidFill>
                  <a:srgbClr val="C06A3C"/>
                </a:solidFill>
                <a:latin typeface="Calibri"/>
              </a:rPr>
              <a:t>▸  </a:t>
            </a:r>
            <a:r>
              <a:rPr sz="1900" b="0">
                <a:solidFill>
                  <a:srgbClr val="222A26"/>
                </a:solidFill>
                <a:latin typeface="Calibri"/>
              </a:rPr>
              <a:t>Contrast: our cheap clothes ↔ their high human cost</a:t>
            </a:r>
          </a:p>
          <a:p>
            <a:pPr algn="l">
              <a:lnSpc>
                <a:spcPct val="112000"/>
              </a:lnSpc>
              <a:spcAft>
                <a:spcPts val="1000"/>
              </a:spcAft>
            </a:pPr>
            <a:r>
              <a:rPr sz="1600" b="1">
                <a:solidFill>
                  <a:srgbClr val="C06A3C"/>
                </a:solidFill>
                <a:latin typeface="Calibri"/>
              </a:rPr>
              <a:t>▸  </a:t>
            </a:r>
            <a:r>
              <a:rPr sz="1900" b="0">
                <a:solidFill>
                  <a:srgbClr val="222A26"/>
                </a:solidFill>
                <a:latin typeface="Calibri"/>
              </a:rPr>
              <a:t>Authority &amp; evidence – surveys, named events</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INTERPRETATION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Message &amp; intention</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Message: the low price is paid by exploited workers &amp; a damaged planet</a:t>
            </a:r>
          </a:p>
          <a:p>
            <a:pPr algn="l">
              <a:lnSpc>
                <a:spcPct val="112000"/>
              </a:lnSpc>
              <a:spcAft>
                <a:spcPts val="1000"/>
              </a:spcAft>
            </a:pPr>
            <a:r>
              <a:rPr sz="1500" b="0">
                <a:solidFill>
                  <a:srgbClr val="6B736E"/>
                </a:solidFill>
                <a:latin typeface="Calibri"/>
              </a:rPr>
              <a:t>      –  </a:t>
            </a:r>
            <a:r>
              <a:rPr sz="1600" b="0">
                <a:solidFill>
                  <a:srgbClr val="4A524D"/>
                </a:solidFill>
                <a:latin typeface="Calibri"/>
              </a:rPr>
              <a:t>the real cost is hidden from the consumer</a:t>
            </a:r>
          </a:p>
          <a:p>
            <a:pPr algn="l">
              <a:lnSpc>
                <a:spcPct val="112000"/>
              </a:lnSpc>
              <a:spcAft>
                <a:spcPts val="1000"/>
              </a:spcAft>
            </a:pPr>
            <a:r>
              <a:rPr sz="1600" b="1">
                <a:solidFill>
                  <a:srgbClr val="C06A3C"/>
                </a:solidFill>
                <a:latin typeface="Calibri"/>
              </a:rPr>
              <a:t>▸  </a:t>
            </a:r>
            <a:r>
              <a:rPr sz="1900" b="0">
                <a:solidFill>
                  <a:srgbClr val="222A26"/>
                </a:solidFill>
                <a:latin typeface="Calibri"/>
              </a:rPr>
              <a:t>Intention: to inform AND to persuade</a:t>
            </a:r>
          </a:p>
          <a:p>
            <a:pPr algn="l">
              <a:lnSpc>
                <a:spcPct val="112000"/>
              </a:lnSpc>
              <a:spcAft>
                <a:spcPts val="1000"/>
              </a:spcAft>
            </a:pPr>
            <a:r>
              <a:rPr sz="1500" b="0">
                <a:solidFill>
                  <a:srgbClr val="6B736E"/>
                </a:solidFill>
                <a:latin typeface="Calibri"/>
              </a:rPr>
              <a:t>      –  </a:t>
            </a:r>
            <a:r>
              <a:rPr sz="1600" b="0">
                <a:solidFill>
                  <a:srgbClr val="4A524D"/>
                </a:solidFill>
                <a:latin typeface="Calibri"/>
              </a:rPr>
              <a:t>raise awareness → a call to rethink consumption</a:t>
            </a:r>
          </a:p>
          <a:p>
            <a:pPr algn="l">
              <a:lnSpc>
                <a:spcPct val="112000"/>
              </a:lnSpc>
              <a:spcAft>
                <a:spcPts val="1000"/>
              </a:spcAft>
            </a:pPr>
            <a:r>
              <a:rPr sz="1600" b="1">
                <a:solidFill>
                  <a:srgbClr val="C06A3C"/>
                </a:solidFill>
                <a:latin typeface="Calibri"/>
              </a:rPr>
              <a:t>▸  </a:t>
            </a:r>
            <a:r>
              <a:rPr sz="1900" b="0">
                <a:solidFill>
                  <a:srgbClr val="222A26"/>
                </a:solidFill>
                <a:latin typeface="Calibri"/>
              </a:rPr>
              <a:t>Educates with logos + moves us with pathos</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INTERPRETATION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Sender ↔ receiver: does the language match?</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Largely yes – an eco-organisation writing for value-driven readers</a:t>
            </a:r>
          </a:p>
          <a:p>
            <a:pPr algn="l">
              <a:lnSpc>
                <a:spcPct val="112000"/>
              </a:lnSpc>
              <a:spcAft>
                <a:spcPts val="1000"/>
              </a:spcAft>
            </a:pPr>
            <a:r>
              <a:rPr sz="1600" b="1">
                <a:solidFill>
                  <a:srgbClr val="C06A3C"/>
                </a:solidFill>
                <a:latin typeface="Calibri"/>
              </a:rPr>
              <a:t>▸  </a:t>
            </a:r>
            <a:r>
              <a:rPr sz="1900" b="0">
                <a:solidFill>
                  <a:srgbClr val="222A26"/>
                </a:solidFill>
                <a:latin typeface="Calibri"/>
              </a:rPr>
              <a:t>Formal-but-accessible register fits educated, non-expert consumers</a:t>
            </a:r>
          </a:p>
          <a:p>
            <a:pPr algn="l">
              <a:lnSpc>
                <a:spcPct val="112000"/>
              </a:lnSpc>
              <a:spcAft>
                <a:spcPts val="1000"/>
              </a:spcAft>
            </a:pPr>
            <a:r>
              <a:rPr sz="1600" b="1">
                <a:solidFill>
                  <a:srgbClr val="C06A3C"/>
                </a:solidFill>
                <a:latin typeface="Calibri"/>
              </a:rPr>
              <a:t>▸  </a:t>
            </a:r>
            <a:r>
              <a:rPr sz="1900" b="0">
                <a:solidFill>
                  <a:srgbClr val="222A26"/>
                </a:solidFill>
                <a:latin typeface="Calibri"/>
              </a:rPr>
              <a:t>Hard data + emotional appeal fits rational AND moral readers</a:t>
            </a:r>
          </a:p>
          <a:p>
            <a:pPr algn="l">
              <a:lnSpc>
                <a:spcPct val="112000"/>
              </a:lnSpc>
              <a:spcAft>
                <a:spcPts val="1000"/>
              </a:spcAft>
            </a:pPr>
            <a:r>
              <a:rPr sz="1600" b="1">
                <a:solidFill>
                  <a:srgbClr val="C06A3C"/>
                </a:solidFill>
                <a:latin typeface="Calibri"/>
              </a:rPr>
              <a:t>▸  </a:t>
            </a:r>
            <a:r>
              <a:rPr sz="1900" b="0">
                <a:solidFill>
                  <a:srgbClr val="222A26"/>
                </a:solidFill>
                <a:latin typeface="Calibri"/>
              </a:rPr>
              <a:t>Small mismatch: very emotive words may feel one-sided to sceptics</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DISCUSSION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Pros of fast fashion</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Affordable &amp; accessible – style for low-income consumers</a:t>
            </a:r>
          </a:p>
          <a:p>
            <a:pPr algn="l">
              <a:lnSpc>
                <a:spcPct val="112000"/>
              </a:lnSpc>
              <a:spcAft>
                <a:spcPts val="1000"/>
              </a:spcAft>
            </a:pPr>
            <a:r>
              <a:rPr sz="1600" b="1">
                <a:solidFill>
                  <a:srgbClr val="C06A3C"/>
                </a:solidFill>
                <a:latin typeface="Calibri"/>
              </a:rPr>
              <a:t>▸  </a:t>
            </a:r>
            <a:r>
              <a:rPr sz="1900" b="0">
                <a:solidFill>
                  <a:srgbClr val="222A26"/>
                </a:solidFill>
                <a:latin typeface="Calibri"/>
              </a:rPr>
              <a:t>Provides jobs &amp; income in developing countries</a:t>
            </a:r>
          </a:p>
          <a:p>
            <a:pPr algn="l">
              <a:lnSpc>
                <a:spcPct val="112000"/>
              </a:lnSpc>
              <a:spcAft>
                <a:spcPts val="1000"/>
              </a:spcAft>
            </a:pPr>
            <a:r>
              <a:rPr sz="1600" b="1">
                <a:solidFill>
                  <a:srgbClr val="C06A3C"/>
                </a:solidFill>
                <a:latin typeface="Calibri"/>
              </a:rPr>
              <a:t>▸  </a:t>
            </a:r>
            <a:r>
              <a:rPr sz="1900" b="0">
                <a:solidFill>
                  <a:srgbClr val="222A26"/>
                </a:solidFill>
                <a:latin typeface="Calibri"/>
              </a:rPr>
              <a:t>Fast, varied, on-trend – drives economic activity</a:t>
            </a:r>
          </a:p>
          <a:p>
            <a:pPr algn="l">
              <a:lnSpc>
                <a:spcPct val="112000"/>
              </a:lnSpc>
              <a:spcAft>
                <a:spcPts val="1000"/>
              </a:spcAft>
            </a:pPr>
            <a:r>
              <a:rPr sz="1600" b="1">
                <a:solidFill>
                  <a:srgbClr val="C06A3C"/>
                </a:solidFill>
                <a:latin typeface="Calibri"/>
              </a:rPr>
              <a:t>▸  </a:t>
            </a:r>
            <a:r>
              <a:rPr sz="1900" b="0">
                <a:solidFill>
                  <a:srgbClr val="222A26"/>
                </a:solidFill>
                <a:latin typeface="Calibri"/>
              </a:rPr>
              <a:t>Be fair: acknowledge the benefits before we judge</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DISCUSSION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Cons of fast fashion</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Labour exploitation: poverty wages, child labour, unsafe factories</a:t>
            </a:r>
          </a:p>
          <a:p>
            <a:pPr algn="l">
              <a:lnSpc>
                <a:spcPct val="112000"/>
              </a:lnSpc>
              <a:spcAft>
                <a:spcPts val="1000"/>
              </a:spcAft>
            </a:pPr>
            <a:r>
              <a:rPr sz="1600" b="1">
                <a:solidFill>
                  <a:srgbClr val="C06A3C"/>
                </a:solidFill>
                <a:latin typeface="Calibri"/>
              </a:rPr>
              <a:t>▸  </a:t>
            </a:r>
            <a:r>
              <a:rPr sz="1900" b="0">
                <a:solidFill>
                  <a:srgbClr val="222A26"/>
                </a:solidFill>
                <a:latin typeface="Calibri"/>
              </a:rPr>
              <a:t>Environmental harm: water pollution, textile waste, CO₂, microplastics</a:t>
            </a:r>
          </a:p>
          <a:p>
            <a:pPr algn="l">
              <a:lnSpc>
                <a:spcPct val="112000"/>
              </a:lnSpc>
              <a:spcAft>
                <a:spcPts val="1000"/>
              </a:spcAft>
            </a:pPr>
            <a:r>
              <a:rPr sz="1600" b="1">
                <a:solidFill>
                  <a:srgbClr val="C06A3C"/>
                </a:solidFill>
                <a:latin typeface="Calibri"/>
              </a:rPr>
              <a:t>▸  </a:t>
            </a:r>
            <a:r>
              <a:rPr sz="1900" b="0">
                <a:solidFill>
                  <a:srgbClr val="222A26"/>
                </a:solidFill>
                <a:latin typeface="Calibri"/>
              </a:rPr>
              <a:t>Throwaway culture &amp; overconsumption; poor quality</a:t>
            </a:r>
          </a:p>
          <a:p>
            <a:pPr algn="l">
              <a:lnSpc>
                <a:spcPct val="112000"/>
              </a:lnSpc>
              <a:spcAft>
                <a:spcPts val="1000"/>
              </a:spcAft>
            </a:pPr>
            <a:r>
              <a:rPr sz="1600" b="1">
                <a:solidFill>
                  <a:srgbClr val="C06A3C"/>
                </a:solidFill>
                <a:latin typeface="Calibri"/>
              </a:rPr>
              <a:t>▸  </a:t>
            </a:r>
            <a:r>
              <a:rPr sz="1900" b="0">
                <a:solidFill>
                  <a:srgbClr val="222A26"/>
                </a:solidFill>
                <a:latin typeface="Calibri"/>
              </a:rPr>
              <a:t>Greenwashing – ‘looking’ sustainable without really changing</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DISCUSSION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How much responsibility does the consumer have?</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Shared responsibility – consumers create the demand…</a:t>
            </a:r>
          </a:p>
          <a:p>
            <a:pPr algn="l">
              <a:lnSpc>
                <a:spcPct val="112000"/>
              </a:lnSpc>
              <a:spcAft>
                <a:spcPts val="1000"/>
              </a:spcAft>
            </a:pPr>
            <a:r>
              <a:rPr sz="1600" b="1">
                <a:solidFill>
                  <a:srgbClr val="C06A3C"/>
                </a:solidFill>
                <a:latin typeface="Calibri"/>
              </a:rPr>
              <a:t>▸  </a:t>
            </a:r>
            <a:r>
              <a:rPr sz="1900" b="0">
                <a:solidFill>
                  <a:srgbClr val="222A26"/>
                </a:solidFill>
                <a:latin typeface="Calibri"/>
              </a:rPr>
              <a:t>…but corporations &amp; governments hold more power &amp; information</a:t>
            </a:r>
          </a:p>
          <a:p>
            <a:pPr algn="l">
              <a:lnSpc>
                <a:spcPct val="112000"/>
              </a:lnSpc>
              <a:spcAft>
                <a:spcPts val="1000"/>
              </a:spcAft>
            </a:pPr>
            <a:r>
              <a:rPr sz="1600" b="1">
                <a:solidFill>
                  <a:srgbClr val="C06A3C"/>
                </a:solidFill>
                <a:latin typeface="Calibri"/>
              </a:rPr>
              <a:t>▸  </a:t>
            </a:r>
            <a:r>
              <a:rPr sz="1900" b="0">
                <a:solidFill>
                  <a:srgbClr val="222A26"/>
                </a:solidFill>
                <a:latin typeface="Calibri"/>
              </a:rPr>
              <a:t>Fairness: not everyone can afford ethical alternatives</a:t>
            </a:r>
          </a:p>
          <a:p>
            <a:pPr algn="l">
              <a:lnSpc>
                <a:spcPct val="112000"/>
              </a:lnSpc>
              <a:spcAft>
                <a:spcPts val="1000"/>
              </a:spcAft>
            </a:pPr>
            <a:r>
              <a:rPr sz="1600" b="1">
                <a:solidFill>
                  <a:srgbClr val="C06A3C"/>
                </a:solidFill>
                <a:latin typeface="Calibri"/>
              </a:rPr>
              <a:t>▸  </a:t>
            </a:r>
            <a:r>
              <a:rPr sz="1900" b="0">
                <a:solidFill>
                  <a:srgbClr val="222A26"/>
                </a:solidFill>
                <a:latin typeface="Calibri"/>
              </a:rPr>
              <a:t>Yet collective choices matter – we ‘vote with our wallets’</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DISCUSSION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What can we as consumers do?</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Buy less, buy better – quality over quantity (cost-per-wear)</a:t>
            </a:r>
          </a:p>
          <a:p>
            <a:pPr algn="l">
              <a:lnSpc>
                <a:spcPct val="112000"/>
              </a:lnSpc>
              <a:spcAft>
                <a:spcPts val="1000"/>
              </a:spcAft>
            </a:pPr>
            <a:r>
              <a:rPr sz="1600" b="1">
                <a:solidFill>
                  <a:srgbClr val="C06A3C"/>
                </a:solidFill>
                <a:latin typeface="Calibri"/>
              </a:rPr>
              <a:t>▸  </a:t>
            </a:r>
            <a:r>
              <a:rPr sz="1900" b="0">
                <a:solidFill>
                  <a:srgbClr val="222A26"/>
                </a:solidFill>
                <a:latin typeface="Calibri"/>
              </a:rPr>
              <a:t>Buy second-hand / swap / thrift; repair &amp; care for clothes</a:t>
            </a:r>
          </a:p>
          <a:p>
            <a:pPr algn="l">
              <a:lnSpc>
                <a:spcPct val="112000"/>
              </a:lnSpc>
              <a:spcAft>
                <a:spcPts val="1000"/>
              </a:spcAft>
            </a:pPr>
            <a:r>
              <a:rPr sz="1600" b="1">
                <a:solidFill>
                  <a:srgbClr val="C06A3C"/>
                </a:solidFill>
                <a:latin typeface="Calibri"/>
              </a:rPr>
              <a:t>▸  </a:t>
            </a:r>
            <a:r>
              <a:rPr sz="1900" b="0">
                <a:solidFill>
                  <a:srgbClr val="222A26"/>
                </a:solidFill>
                <a:latin typeface="Calibri"/>
              </a:rPr>
              <a:t>Support ethical brands; demand transparency</a:t>
            </a:r>
          </a:p>
          <a:p>
            <a:pPr algn="l">
              <a:lnSpc>
                <a:spcPct val="112000"/>
              </a:lnSpc>
              <a:spcAft>
                <a:spcPts val="1000"/>
              </a:spcAft>
            </a:pPr>
            <a:r>
              <a:rPr sz="1600" b="1">
                <a:solidFill>
                  <a:srgbClr val="C06A3C"/>
                </a:solidFill>
                <a:latin typeface="Calibri"/>
              </a:rPr>
              <a:t>▸  </a:t>
            </a:r>
            <a:r>
              <a:rPr sz="1900" b="0">
                <a:solidFill>
                  <a:srgbClr val="222A26"/>
                </a:solidFill>
                <a:latin typeface="Calibri"/>
              </a:rPr>
              <a:t>Recycle &amp; donate; back legislation → ‘slow fashion’</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WRAP-UP</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Conclusion</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Fast fashion is a clear product of consumerism &amp; materialism</a:t>
            </a:r>
          </a:p>
          <a:p>
            <a:pPr algn="l">
              <a:lnSpc>
                <a:spcPct val="112000"/>
              </a:lnSpc>
              <a:spcAft>
                <a:spcPts val="1000"/>
              </a:spcAft>
            </a:pPr>
            <a:r>
              <a:rPr sz="1600" b="1">
                <a:solidFill>
                  <a:srgbClr val="C06A3C"/>
                </a:solidFill>
                <a:latin typeface="Calibri"/>
              </a:rPr>
              <a:t>▸  </a:t>
            </a:r>
            <a:r>
              <a:rPr sz="1900" b="0">
                <a:solidFill>
                  <a:srgbClr val="222A26"/>
                </a:solidFill>
                <a:latin typeface="Calibri"/>
              </a:rPr>
              <a:t>Earth.org uses logos + pathos on a base of institutional ethos</a:t>
            </a:r>
          </a:p>
          <a:p>
            <a:pPr algn="l">
              <a:lnSpc>
                <a:spcPct val="112000"/>
              </a:lnSpc>
              <a:spcAft>
                <a:spcPts val="1000"/>
              </a:spcAft>
            </a:pPr>
            <a:r>
              <a:rPr sz="1600" b="1">
                <a:solidFill>
                  <a:srgbClr val="C06A3C"/>
                </a:solidFill>
                <a:latin typeface="Calibri"/>
              </a:rPr>
              <a:t>▸  </a:t>
            </a:r>
            <a:r>
              <a:rPr sz="1900" b="0">
                <a:solidFill>
                  <a:srgbClr val="222A26"/>
                </a:solidFill>
                <a:latin typeface="Calibri"/>
              </a:rPr>
              <a:t>It exposes the hidden human &amp; environmental cost</a:t>
            </a:r>
          </a:p>
          <a:p>
            <a:pPr algn="l">
              <a:lnSpc>
                <a:spcPct val="112000"/>
              </a:lnSpc>
              <a:spcAft>
                <a:spcPts val="1000"/>
              </a:spcAft>
            </a:pPr>
            <a:r>
              <a:rPr sz="1600" b="1">
                <a:solidFill>
                  <a:srgbClr val="C06A3C"/>
                </a:solidFill>
                <a:latin typeface="Calibri"/>
              </a:rPr>
              <a:t>▸  </a:t>
            </a:r>
            <a:r>
              <a:rPr sz="1900" b="0">
                <a:solidFill>
                  <a:srgbClr val="222A26"/>
                </a:solidFill>
                <a:latin typeface="Calibri"/>
              </a:rPr>
              <a:t>Responsibility is shared – but small changes, by many, add up</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E3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C06A3C"/>
                </a:solidFill>
                <a:latin typeface="Calibri"/>
              </a:rPr>
              <a:t>REFERENCES</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E3D32"/>
                </a:solidFill>
                <a:latin typeface="Georgia"/>
              </a:rPr>
              <a:t>Sources</a:t>
            </a:r>
          </a:p>
        </p:txBody>
      </p:sp>
      <p:sp>
        <p:nvSpPr>
          <p:cNvPr id="5" name="Rectangle 4"/>
          <p:cNvSpPr/>
          <p:nvPr/>
        </p:nvSpPr>
        <p:spPr>
          <a:xfrm>
            <a:off x="658368" y="1728216"/>
            <a:ext cx="1554480" cy="41148"/>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7"/>
            <a:ext cx="10607040" cy="4572000"/>
          </a:xfrm>
          <a:prstGeom prst="rect">
            <a:avLst/>
          </a:prstGeom>
          <a:noFill/>
        </p:spPr>
        <p:txBody>
          <a:bodyPr wrap="square" anchor="t">
            <a:spAutoFit/>
          </a:bodyPr>
          <a:lstStyle/>
          <a:p>
            <a:pPr algn="l">
              <a:lnSpc>
                <a:spcPct val="112000"/>
              </a:lnSpc>
              <a:spcAft>
                <a:spcPts val="1000"/>
              </a:spcAft>
            </a:pPr>
            <a:r>
              <a:rPr sz="1600" b="1">
                <a:solidFill>
                  <a:srgbClr val="C06A3C"/>
                </a:solidFill>
                <a:latin typeface="Calibri"/>
              </a:rPr>
              <a:t>▸  </a:t>
            </a:r>
            <a:r>
              <a:rPr sz="1900" b="0">
                <a:solidFill>
                  <a:srgbClr val="222A26"/>
                </a:solidFill>
                <a:latin typeface="Calibri"/>
              </a:rPr>
              <a:t>“Fast Fashion: The Danger of Sweatshops”, Earth.org – earth.org/sweatshops/</a:t>
            </a:r>
          </a:p>
          <a:p>
            <a:pPr algn="l">
              <a:lnSpc>
                <a:spcPct val="112000"/>
              </a:lnSpc>
              <a:spcAft>
                <a:spcPts val="1000"/>
              </a:spcAft>
            </a:pPr>
            <a:r>
              <a:rPr sz="1600" b="1">
                <a:solidFill>
                  <a:srgbClr val="C06A3C"/>
                </a:solidFill>
                <a:latin typeface="Calibri"/>
              </a:rPr>
              <a:t>▸  </a:t>
            </a:r>
            <a:r>
              <a:rPr sz="1900" b="0">
                <a:solidFill>
                  <a:srgbClr val="222A26"/>
                </a:solidFill>
                <a:latin typeface="Calibri"/>
              </a:rPr>
              <a:t>“The Greening of Throwaway Stuff”, BusinessLike, Systime</a:t>
            </a:r>
          </a:p>
          <a:p>
            <a:pPr algn="l">
              <a:lnSpc>
                <a:spcPct val="112000"/>
              </a:lnSpc>
              <a:spcAft>
                <a:spcPts val="1000"/>
              </a:spcAft>
            </a:pPr>
            <a:r>
              <a:rPr sz="1600" b="1">
                <a:solidFill>
                  <a:srgbClr val="C06A3C"/>
                </a:solidFill>
                <a:latin typeface="Calibri"/>
              </a:rPr>
              <a:t>▸  </a:t>
            </a:r>
            <a:r>
              <a:rPr sz="1900" b="0">
                <a:solidFill>
                  <a:srgbClr val="222A26"/>
                </a:solidFill>
                <a:latin typeface="Calibri"/>
              </a:rPr>
              <a:t>(Add any further sources you used)</a:t>
            </a:r>
          </a:p>
        </p:txBody>
      </p:sp>
      <p:sp>
        <p:nvSpPr>
          <p:cNvPr id="7" name="TextBox 6"/>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6B736E"/>
                </a:solidFill>
                <a:latin typeface="Calibri"/>
              </a:rPr>
              <a:t>Consumerism &amp; Fast Fashion</a:t>
            </a:r>
          </a:p>
        </p:txBody>
      </p:sp>
      <p:sp>
        <p:nvSpPr>
          <p:cNvPr id="8" name="TextBox 7"/>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6B73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3D3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32720" cy="1463040"/>
          </a:xfrm>
          <a:prstGeom prst="rect">
            <a:avLst/>
          </a:prstGeom>
          <a:noFill/>
        </p:spPr>
        <p:txBody>
          <a:bodyPr wrap="square" anchor="t">
            <a:spAutoFit/>
          </a:bodyPr>
          <a:lstStyle/>
          <a:p>
            <a:pPr algn="l">
              <a:lnSpc>
                <a:spcPct val="110000"/>
              </a:lnSpc>
              <a:spcAft>
                <a:spcPts val="800"/>
              </a:spcAft>
            </a:pPr>
            <a:r>
              <a:rPr sz="5400" b="1">
                <a:solidFill>
                  <a:srgbClr val="FFFFFF"/>
                </a:solidFill>
                <a:latin typeface="Georgia"/>
              </a:rPr>
              <a:t>Thank you</a:t>
            </a:r>
          </a:p>
        </p:txBody>
      </p:sp>
      <p:sp>
        <p:nvSpPr>
          <p:cNvPr id="4" name="Rectangle 3"/>
          <p:cNvSpPr/>
          <p:nvPr/>
        </p:nvSpPr>
        <p:spPr>
          <a:xfrm>
            <a:off x="960120" y="3977639"/>
            <a:ext cx="2194560" cy="54864"/>
          </a:xfrm>
          <a:prstGeom prst="rect">
            <a:avLst/>
          </a:prstGeom>
          <a:solidFill>
            <a:srgbClr val="C06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206240"/>
            <a:ext cx="10058400" cy="731520"/>
          </a:xfrm>
          <a:prstGeom prst="rect">
            <a:avLst/>
          </a:prstGeom>
          <a:noFill/>
        </p:spPr>
        <p:txBody>
          <a:bodyPr wrap="square" anchor="t">
            <a:spAutoFit/>
          </a:bodyPr>
          <a:lstStyle/>
          <a:p>
            <a:pPr algn="l">
              <a:lnSpc>
                <a:spcPct val="110000"/>
              </a:lnSpc>
              <a:spcAft>
                <a:spcPts val="800"/>
              </a:spcAft>
            </a:pPr>
            <a:r>
              <a:rPr sz="2600" b="0">
                <a:solidFill>
                  <a:srgbClr val="CFDED4"/>
                </a:solidFill>
                <a:latin typeface="Georgia"/>
              </a:rPr>
              <a:t>Any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